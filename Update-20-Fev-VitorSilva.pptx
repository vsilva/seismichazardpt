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8" r:id="rId3"/>
    <p:sldId id="264" r:id="rId4"/>
    <p:sldId id="257" r:id="rId5"/>
    <p:sldId id="259" r:id="rId6"/>
    <p:sldId id="260" r:id="rId7"/>
    <p:sldId id="261" r:id="rId8"/>
    <p:sldId id="262" r:id="rId9"/>
    <p:sldId id="263" r:id="rId10"/>
    <p:sldId id="265" r:id="rId11"/>
  </p:sldIdLst>
  <p:sldSz cx="12192000" cy="6858000"/>
  <p:notesSz cx="6858000" cy="9144000"/>
  <p:defaultText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0647"/>
    <p:restoredTop sz="94737"/>
  </p:normalViewPr>
  <p:slideViewPr>
    <p:cSldViewPr snapToGrid="0">
      <p:cViewPr varScale="1">
        <p:scale>
          <a:sx n="95" d="100"/>
          <a:sy n="95" d="100"/>
        </p:scale>
        <p:origin x="200" y="62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5EF2FF-A52C-9ED0-4D24-C450AC6722C7}"/>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PT"/>
          </a:p>
        </p:txBody>
      </p:sp>
      <p:sp>
        <p:nvSpPr>
          <p:cNvPr id="3" name="Subtitle 2">
            <a:extLst>
              <a:ext uri="{FF2B5EF4-FFF2-40B4-BE49-F238E27FC236}">
                <a16:creationId xmlns:a16="http://schemas.microsoft.com/office/drawing/2014/main" id="{A0E97EF3-814F-EABC-55B6-C1C250F536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PT"/>
          </a:p>
        </p:txBody>
      </p:sp>
      <p:sp>
        <p:nvSpPr>
          <p:cNvPr id="4" name="Date Placeholder 3">
            <a:extLst>
              <a:ext uri="{FF2B5EF4-FFF2-40B4-BE49-F238E27FC236}">
                <a16:creationId xmlns:a16="http://schemas.microsoft.com/office/drawing/2014/main" id="{0041C952-3C1D-E093-6535-F99AF03B87E4}"/>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5" name="Footer Placeholder 4">
            <a:extLst>
              <a:ext uri="{FF2B5EF4-FFF2-40B4-BE49-F238E27FC236}">
                <a16:creationId xmlns:a16="http://schemas.microsoft.com/office/drawing/2014/main" id="{51B5AB3B-629D-30C9-4313-395A0F12982D}"/>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39E9D7D1-3401-423C-1ED0-A99B481FBEF0}"/>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327281393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BAFFE-8E9D-928C-D291-B04DA7FD571D}"/>
              </a:ext>
            </a:extLst>
          </p:cNvPr>
          <p:cNvSpPr>
            <a:spLocks noGrp="1"/>
          </p:cNvSpPr>
          <p:nvPr>
            <p:ph type="title"/>
          </p:nvPr>
        </p:nvSpPr>
        <p:spPr/>
        <p:txBody>
          <a:bodyPr/>
          <a:lstStyle/>
          <a:p>
            <a:r>
              <a:rPr lang="en-GB"/>
              <a:t>Click to edit Master title style</a:t>
            </a:r>
            <a:endParaRPr lang="en-PT"/>
          </a:p>
        </p:txBody>
      </p:sp>
      <p:sp>
        <p:nvSpPr>
          <p:cNvPr id="3" name="Content Placeholder 2">
            <a:extLst>
              <a:ext uri="{FF2B5EF4-FFF2-40B4-BE49-F238E27FC236}">
                <a16:creationId xmlns:a16="http://schemas.microsoft.com/office/drawing/2014/main" id="{F8C4458E-1669-7087-9EB6-6D6F19DB67D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71BABCB4-B66F-4F25-1441-A7DCB2808007}"/>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5" name="Footer Placeholder 4">
            <a:extLst>
              <a:ext uri="{FF2B5EF4-FFF2-40B4-BE49-F238E27FC236}">
                <a16:creationId xmlns:a16="http://schemas.microsoft.com/office/drawing/2014/main" id="{A11FC364-B62B-7611-FCB5-CCC0954AB9A4}"/>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AECBF627-E6ED-57D5-7709-705CB369438F}"/>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29181588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BA40E3B-1C0B-A7C3-0FFB-98BAF310DBBC}"/>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PT"/>
          </a:p>
        </p:txBody>
      </p:sp>
      <p:sp>
        <p:nvSpPr>
          <p:cNvPr id="3" name="Text Placeholder 2">
            <a:extLst>
              <a:ext uri="{FF2B5EF4-FFF2-40B4-BE49-F238E27FC236}">
                <a16:creationId xmlns:a16="http://schemas.microsoft.com/office/drawing/2014/main" id="{DBD3C3B6-EB34-EF10-0024-3F077D99127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70F8372B-0BD7-6747-3D56-7FDE0B475F84}"/>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5" name="Footer Placeholder 4">
            <a:extLst>
              <a:ext uri="{FF2B5EF4-FFF2-40B4-BE49-F238E27FC236}">
                <a16:creationId xmlns:a16="http://schemas.microsoft.com/office/drawing/2014/main" id="{AF19177F-2446-575E-F94F-A9D2B6F96EBF}"/>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0B8FDEBD-747E-0868-199C-C2EB6704454C}"/>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3614233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7C6443-E521-6075-C918-114FEF1BD038}"/>
              </a:ext>
            </a:extLst>
          </p:cNvPr>
          <p:cNvSpPr>
            <a:spLocks noGrp="1"/>
          </p:cNvSpPr>
          <p:nvPr>
            <p:ph type="title"/>
          </p:nvPr>
        </p:nvSpPr>
        <p:spPr/>
        <p:txBody>
          <a:bodyPr/>
          <a:lstStyle/>
          <a:p>
            <a:r>
              <a:rPr lang="en-GB"/>
              <a:t>Click to edit Master title style</a:t>
            </a:r>
            <a:endParaRPr lang="en-PT"/>
          </a:p>
        </p:txBody>
      </p:sp>
      <p:sp>
        <p:nvSpPr>
          <p:cNvPr id="3" name="Content Placeholder 2">
            <a:extLst>
              <a:ext uri="{FF2B5EF4-FFF2-40B4-BE49-F238E27FC236}">
                <a16:creationId xmlns:a16="http://schemas.microsoft.com/office/drawing/2014/main" id="{CDBEA5A4-B855-6D60-04FE-B01972E4E976}"/>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Content Placeholder 3">
            <a:extLst>
              <a:ext uri="{FF2B5EF4-FFF2-40B4-BE49-F238E27FC236}">
                <a16:creationId xmlns:a16="http://schemas.microsoft.com/office/drawing/2014/main" id="{4489E4E1-F98F-4F25-05EC-767605B6785C}"/>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5" name="Date Placeholder 4">
            <a:extLst>
              <a:ext uri="{FF2B5EF4-FFF2-40B4-BE49-F238E27FC236}">
                <a16:creationId xmlns:a16="http://schemas.microsoft.com/office/drawing/2014/main" id="{6630752F-CFA8-4420-3C15-DAFC06DED1F3}"/>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6" name="Footer Placeholder 5">
            <a:extLst>
              <a:ext uri="{FF2B5EF4-FFF2-40B4-BE49-F238E27FC236}">
                <a16:creationId xmlns:a16="http://schemas.microsoft.com/office/drawing/2014/main" id="{8F7BBA25-ACBF-FFA4-8030-EE94175CE818}"/>
              </a:ext>
            </a:extLst>
          </p:cNvPr>
          <p:cNvSpPr>
            <a:spLocks noGrp="1"/>
          </p:cNvSpPr>
          <p:nvPr>
            <p:ph type="ftr" sz="quarter" idx="11"/>
          </p:nvPr>
        </p:nvSpPr>
        <p:spPr/>
        <p:txBody>
          <a:bodyPr/>
          <a:lstStyle/>
          <a:p>
            <a:endParaRPr lang="en-PT"/>
          </a:p>
        </p:txBody>
      </p:sp>
      <p:sp>
        <p:nvSpPr>
          <p:cNvPr id="7" name="Slide Number Placeholder 6">
            <a:extLst>
              <a:ext uri="{FF2B5EF4-FFF2-40B4-BE49-F238E27FC236}">
                <a16:creationId xmlns:a16="http://schemas.microsoft.com/office/drawing/2014/main" id="{787D27EB-9C87-120B-CB34-3717DB0CA1BB}"/>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105395202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129D8-12E4-0014-D5E1-858E93AAF6EC}"/>
              </a:ext>
            </a:extLst>
          </p:cNvPr>
          <p:cNvSpPr>
            <a:spLocks noGrp="1"/>
          </p:cNvSpPr>
          <p:nvPr>
            <p:ph type="title"/>
          </p:nvPr>
        </p:nvSpPr>
        <p:spPr>
          <a:xfrm>
            <a:off x="839788" y="365125"/>
            <a:ext cx="10515600" cy="1325563"/>
          </a:xfrm>
        </p:spPr>
        <p:txBody>
          <a:bodyPr/>
          <a:lstStyle/>
          <a:p>
            <a:r>
              <a:rPr lang="en-GB"/>
              <a:t>Click to edit Master title style</a:t>
            </a:r>
            <a:endParaRPr lang="en-PT"/>
          </a:p>
        </p:txBody>
      </p:sp>
      <p:sp>
        <p:nvSpPr>
          <p:cNvPr id="3" name="Text Placeholder 2">
            <a:extLst>
              <a:ext uri="{FF2B5EF4-FFF2-40B4-BE49-F238E27FC236}">
                <a16:creationId xmlns:a16="http://schemas.microsoft.com/office/drawing/2014/main" id="{B87093E6-251D-63B1-B188-351FCCD53D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EAED0ACB-C262-ADA3-39BE-020B5112AAE0}"/>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5" name="Text Placeholder 4">
            <a:extLst>
              <a:ext uri="{FF2B5EF4-FFF2-40B4-BE49-F238E27FC236}">
                <a16:creationId xmlns:a16="http://schemas.microsoft.com/office/drawing/2014/main" id="{1B861237-8AAD-C049-236B-6B2E35AFE33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98A14359-EE42-495F-1F37-AE01B90778E2}"/>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7" name="Date Placeholder 6">
            <a:extLst>
              <a:ext uri="{FF2B5EF4-FFF2-40B4-BE49-F238E27FC236}">
                <a16:creationId xmlns:a16="http://schemas.microsoft.com/office/drawing/2014/main" id="{9F5EDF6A-35BC-C502-E9C8-08B85877A633}"/>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8" name="Footer Placeholder 7">
            <a:extLst>
              <a:ext uri="{FF2B5EF4-FFF2-40B4-BE49-F238E27FC236}">
                <a16:creationId xmlns:a16="http://schemas.microsoft.com/office/drawing/2014/main" id="{B7F048C0-C8BB-6124-34C1-24E695D3FDC1}"/>
              </a:ext>
            </a:extLst>
          </p:cNvPr>
          <p:cNvSpPr>
            <a:spLocks noGrp="1"/>
          </p:cNvSpPr>
          <p:nvPr>
            <p:ph type="ftr" sz="quarter" idx="11"/>
          </p:nvPr>
        </p:nvSpPr>
        <p:spPr/>
        <p:txBody>
          <a:bodyPr/>
          <a:lstStyle/>
          <a:p>
            <a:endParaRPr lang="en-PT"/>
          </a:p>
        </p:txBody>
      </p:sp>
      <p:sp>
        <p:nvSpPr>
          <p:cNvPr id="9" name="Slide Number Placeholder 8">
            <a:extLst>
              <a:ext uri="{FF2B5EF4-FFF2-40B4-BE49-F238E27FC236}">
                <a16:creationId xmlns:a16="http://schemas.microsoft.com/office/drawing/2014/main" id="{E41DACD6-09B0-E386-D193-A22D7976B9C7}"/>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21597199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A2B5C-C6CB-5B66-B500-8C7ABE8453C4}"/>
              </a:ext>
            </a:extLst>
          </p:cNvPr>
          <p:cNvSpPr>
            <a:spLocks noGrp="1"/>
          </p:cNvSpPr>
          <p:nvPr>
            <p:ph type="title"/>
          </p:nvPr>
        </p:nvSpPr>
        <p:spPr/>
        <p:txBody>
          <a:bodyPr/>
          <a:lstStyle/>
          <a:p>
            <a:r>
              <a:rPr lang="en-GB"/>
              <a:t>Click to edit Master title style</a:t>
            </a:r>
            <a:endParaRPr lang="en-PT"/>
          </a:p>
        </p:txBody>
      </p:sp>
      <p:sp>
        <p:nvSpPr>
          <p:cNvPr id="3" name="Date Placeholder 2">
            <a:extLst>
              <a:ext uri="{FF2B5EF4-FFF2-40B4-BE49-F238E27FC236}">
                <a16:creationId xmlns:a16="http://schemas.microsoft.com/office/drawing/2014/main" id="{FD1229E0-0E45-4373-62E2-2F2E25608EE2}"/>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4" name="Footer Placeholder 3">
            <a:extLst>
              <a:ext uri="{FF2B5EF4-FFF2-40B4-BE49-F238E27FC236}">
                <a16:creationId xmlns:a16="http://schemas.microsoft.com/office/drawing/2014/main" id="{7C623F88-F339-B575-76C0-2E12AC5D84BD}"/>
              </a:ext>
            </a:extLst>
          </p:cNvPr>
          <p:cNvSpPr>
            <a:spLocks noGrp="1"/>
          </p:cNvSpPr>
          <p:nvPr>
            <p:ph type="ftr" sz="quarter" idx="11"/>
          </p:nvPr>
        </p:nvSpPr>
        <p:spPr/>
        <p:txBody>
          <a:bodyPr/>
          <a:lstStyle/>
          <a:p>
            <a:endParaRPr lang="en-PT"/>
          </a:p>
        </p:txBody>
      </p:sp>
      <p:sp>
        <p:nvSpPr>
          <p:cNvPr id="5" name="Slide Number Placeholder 4">
            <a:extLst>
              <a:ext uri="{FF2B5EF4-FFF2-40B4-BE49-F238E27FC236}">
                <a16:creationId xmlns:a16="http://schemas.microsoft.com/office/drawing/2014/main" id="{46DDC3E9-CA74-2D64-46F7-1300A0C15A38}"/>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911926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F641ED0B-7152-42B7-52F3-52E736788C9F}"/>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3" name="Footer Placeholder 2">
            <a:extLst>
              <a:ext uri="{FF2B5EF4-FFF2-40B4-BE49-F238E27FC236}">
                <a16:creationId xmlns:a16="http://schemas.microsoft.com/office/drawing/2014/main" id="{2CA3ED79-6892-CAEA-2CBA-68E5DB187838}"/>
              </a:ext>
            </a:extLst>
          </p:cNvPr>
          <p:cNvSpPr>
            <a:spLocks noGrp="1"/>
          </p:cNvSpPr>
          <p:nvPr>
            <p:ph type="ftr" sz="quarter" idx="11"/>
          </p:nvPr>
        </p:nvSpPr>
        <p:spPr/>
        <p:txBody>
          <a:bodyPr/>
          <a:lstStyle/>
          <a:p>
            <a:endParaRPr lang="en-PT"/>
          </a:p>
        </p:txBody>
      </p:sp>
      <p:sp>
        <p:nvSpPr>
          <p:cNvPr id="4" name="Slide Number Placeholder 3">
            <a:extLst>
              <a:ext uri="{FF2B5EF4-FFF2-40B4-BE49-F238E27FC236}">
                <a16:creationId xmlns:a16="http://schemas.microsoft.com/office/drawing/2014/main" id="{CD396520-0F5C-0EE9-5EB0-D5C77158D965}"/>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37009936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E9E413-F522-226E-C31F-2675EC6EE925}"/>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T"/>
          </a:p>
        </p:txBody>
      </p:sp>
      <p:sp>
        <p:nvSpPr>
          <p:cNvPr id="3" name="Content Placeholder 2">
            <a:extLst>
              <a:ext uri="{FF2B5EF4-FFF2-40B4-BE49-F238E27FC236}">
                <a16:creationId xmlns:a16="http://schemas.microsoft.com/office/drawing/2014/main" id="{BB6FE304-AE06-865A-D244-85E47C9B2E9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Text Placeholder 3">
            <a:extLst>
              <a:ext uri="{FF2B5EF4-FFF2-40B4-BE49-F238E27FC236}">
                <a16:creationId xmlns:a16="http://schemas.microsoft.com/office/drawing/2014/main" id="{5F06C589-EC84-B900-3649-04638832EA0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FF88518-4CCF-BFC4-A475-5B9919C5FD55}"/>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6" name="Footer Placeholder 5">
            <a:extLst>
              <a:ext uri="{FF2B5EF4-FFF2-40B4-BE49-F238E27FC236}">
                <a16:creationId xmlns:a16="http://schemas.microsoft.com/office/drawing/2014/main" id="{353B4FFE-4C94-791F-CF96-A0CDE9BBACF9}"/>
              </a:ext>
            </a:extLst>
          </p:cNvPr>
          <p:cNvSpPr>
            <a:spLocks noGrp="1"/>
          </p:cNvSpPr>
          <p:nvPr>
            <p:ph type="ftr" sz="quarter" idx="11"/>
          </p:nvPr>
        </p:nvSpPr>
        <p:spPr/>
        <p:txBody>
          <a:bodyPr/>
          <a:lstStyle/>
          <a:p>
            <a:endParaRPr lang="en-PT"/>
          </a:p>
        </p:txBody>
      </p:sp>
      <p:sp>
        <p:nvSpPr>
          <p:cNvPr id="7" name="Slide Number Placeholder 6">
            <a:extLst>
              <a:ext uri="{FF2B5EF4-FFF2-40B4-BE49-F238E27FC236}">
                <a16:creationId xmlns:a16="http://schemas.microsoft.com/office/drawing/2014/main" id="{91436EF6-A4C9-5AEE-BF25-4CB02972F1E2}"/>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23829521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3A4AA-762D-33BA-8BB8-96DDE453D0AD}"/>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PT"/>
          </a:p>
        </p:txBody>
      </p:sp>
      <p:sp>
        <p:nvSpPr>
          <p:cNvPr id="3" name="Picture Placeholder 2">
            <a:extLst>
              <a:ext uri="{FF2B5EF4-FFF2-40B4-BE49-F238E27FC236}">
                <a16:creationId xmlns:a16="http://schemas.microsoft.com/office/drawing/2014/main" id="{F671D73C-7645-5303-31E8-671DDD5E6D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T"/>
          </a:p>
        </p:txBody>
      </p:sp>
      <p:sp>
        <p:nvSpPr>
          <p:cNvPr id="4" name="Text Placeholder 3">
            <a:extLst>
              <a:ext uri="{FF2B5EF4-FFF2-40B4-BE49-F238E27FC236}">
                <a16:creationId xmlns:a16="http://schemas.microsoft.com/office/drawing/2014/main" id="{40BF18AA-F547-7DA6-A9FC-0210509CBE3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C4D3672E-27CC-6477-1445-88093EDFF42E}"/>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6" name="Footer Placeholder 5">
            <a:extLst>
              <a:ext uri="{FF2B5EF4-FFF2-40B4-BE49-F238E27FC236}">
                <a16:creationId xmlns:a16="http://schemas.microsoft.com/office/drawing/2014/main" id="{1A949FDE-B778-CFB0-99AD-F3E65E4BB82E}"/>
              </a:ext>
            </a:extLst>
          </p:cNvPr>
          <p:cNvSpPr>
            <a:spLocks noGrp="1"/>
          </p:cNvSpPr>
          <p:nvPr>
            <p:ph type="ftr" sz="quarter" idx="11"/>
          </p:nvPr>
        </p:nvSpPr>
        <p:spPr/>
        <p:txBody>
          <a:bodyPr/>
          <a:lstStyle/>
          <a:p>
            <a:endParaRPr lang="en-PT"/>
          </a:p>
        </p:txBody>
      </p:sp>
      <p:sp>
        <p:nvSpPr>
          <p:cNvPr id="7" name="Slide Number Placeholder 6">
            <a:extLst>
              <a:ext uri="{FF2B5EF4-FFF2-40B4-BE49-F238E27FC236}">
                <a16:creationId xmlns:a16="http://schemas.microsoft.com/office/drawing/2014/main" id="{96B3342C-7BC4-2B23-7CAF-D2671E7A9EDC}"/>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14513289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E993AD-A621-35A5-1A2A-B3B22FF69939}"/>
              </a:ext>
            </a:extLst>
          </p:cNvPr>
          <p:cNvSpPr>
            <a:spLocks noGrp="1"/>
          </p:cNvSpPr>
          <p:nvPr>
            <p:ph type="title"/>
          </p:nvPr>
        </p:nvSpPr>
        <p:spPr/>
        <p:txBody>
          <a:bodyPr/>
          <a:lstStyle/>
          <a:p>
            <a:r>
              <a:rPr lang="en-GB"/>
              <a:t>Click to edit Master title style</a:t>
            </a:r>
            <a:endParaRPr lang="en-PT"/>
          </a:p>
        </p:txBody>
      </p:sp>
      <p:sp>
        <p:nvSpPr>
          <p:cNvPr id="3" name="Vertical Text Placeholder 2">
            <a:extLst>
              <a:ext uri="{FF2B5EF4-FFF2-40B4-BE49-F238E27FC236}">
                <a16:creationId xmlns:a16="http://schemas.microsoft.com/office/drawing/2014/main" id="{1F71AA78-9BB1-D796-950A-990055D7F8A1}"/>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97251CD0-F803-A9E5-3797-91E7817C14E0}"/>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5" name="Footer Placeholder 4">
            <a:extLst>
              <a:ext uri="{FF2B5EF4-FFF2-40B4-BE49-F238E27FC236}">
                <a16:creationId xmlns:a16="http://schemas.microsoft.com/office/drawing/2014/main" id="{696E17B8-E101-BAE1-5A62-450EC5CEBEA9}"/>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C3E52963-1454-71B6-393C-7F9A02F9A3CD}"/>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70146172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6F06D54-49DF-91F1-EDB0-4FA7C0375B93}"/>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PT"/>
          </a:p>
        </p:txBody>
      </p:sp>
      <p:sp>
        <p:nvSpPr>
          <p:cNvPr id="3" name="Vertical Text Placeholder 2">
            <a:extLst>
              <a:ext uri="{FF2B5EF4-FFF2-40B4-BE49-F238E27FC236}">
                <a16:creationId xmlns:a16="http://schemas.microsoft.com/office/drawing/2014/main" id="{F19299A2-8E2C-6C9D-651C-E32DCC3BDE89}"/>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0BA32C35-2A9B-144C-8936-1B815460B03D}"/>
              </a:ext>
            </a:extLst>
          </p:cNvPr>
          <p:cNvSpPr>
            <a:spLocks noGrp="1"/>
          </p:cNvSpPr>
          <p:nvPr>
            <p:ph type="dt" sz="half" idx="10"/>
          </p:nvPr>
        </p:nvSpPr>
        <p:spPr/>
        <p:txBody>
          <a:bodyPr/>
          <a:lstStyle/>
          <a:p>
            <a:fld id="{3488EE7A-C3CC-0E4A-B24E-CE06393687BD}" type="datetimeFigureOut">
              <a:rPr lang="en-PT" smtClean="0"/>
              <a:t>23/02/2026</a:t>
            </a:fld>
            <a:endParaRPr lang="en-PT"/>
          </a:p>
        </p:txBody>
      </p:sp>
      <p:sp>
        <p:nvSpPr>
          <p:cNvPr id="5" name="Footer Placeholder 4">
            <a:extLst>
              <a:ext uri="{FF2B5EF4-FFF2-40B4-BE49-F238E27FC236}">
                <a16:creationId xmlns:a16="http://schemas.microsoft.com/office/drawing/2014/main" id="{F97CF016-5047-8235-7CBE-936513532411}"/>
              </a:ext>
            </a:extLst>
          </p:cNvPr>
          <p:cNvSpPr>
            <a:spLocks noGrp="1"/>
          </p:cNvSpPr>
          <p:nvPr>
            <p:ph type="ftr" sz="quarter" idx="11"/>
          </p:nvPr>
        </p:nvSpPr>
        <p:spPr/>
        <p:txBody>
          <a:bodyPr/>
          <a:lstStyle/>
          <a:p>
            <a:endParaRPr lang="en-PT"/>
          </a:p>
        </p:txBody>
      </p:sp>
      <p:sp>
        <p:nvSpPr>
          <p:cNvPr id="6" name="Slide Number Placeholder 5">
            <a:extLst>
              <a:ext uri="{FF2B5EF4-FFF2-40B4-BE49-F238E27FC236}">
                <a16:creationId xmlns:a16="http://schemas.microsoft.com/office/drawing/2014/main" id="{29037183-2782-DEF8-B822-72E07FD4B94B}"/>
              </a:ext>
            </a:extLst>
          </p:cNvPr>
          <p:cNvSpPr>
            <a:spLocks noGrp="1"/>
          </p:cNvSpPr>
          <p:nvPr>
            <p:ph type="sldNum" sz="quarter" idx="12"/>
          </p:nvPr>
        </p:nvSpPr>
        <p:spPr/>
        <p:txBody>
          <a:bodyPr/>
          <a:lstStyle/>
          <a:p>
            <a:fld id="{D6C7BE31-AA34-3646-A340-3B484ED754DB}" type="slidenum">
              <a:rPr lang="en-PT" smtClean="0"/>
              <a:t>‹#›</a:t>
            </a:fld>
            <a:endParaRPr lang="en-PT"/>
          </a:p>
        </p:txBody>
      </p:sp>
    </p:spTree>
    <p:extLst>
      <p:ext uri="{BB962C8B-B14F-4D97-AF65-F5344CB8AC3E}">
        <p14:creationId xmlns:p14="http://schemas.microsoft.com/office/powerpoint/2010/main" val="226181962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DDC8591-909E-773C-2709-D109E6E0235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PT"/>
          </a:p>
        </p:txBody>
      </p:sp>
      <p:sp>
        <p:nvSpPr>
          <p:cNvPr id="3" name="Text Placeholder 2">
            <a:extLst>
              <a:ext uri="{FF2B5EF4-FFF2-40B4-BE49-F238E27FC236}">
                <a16:creationId xmlns:a16="http://schemas.microsoft.com/office/drawing/2014/main" id="{EE383823-7B05-AB7E-4FE2-936612DA644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PT"/>
          </a:p>
        </p:txBody>
      </p:sp>
      <p:sp>
        <p:nvSpPr>
          <p:cNvPr id="4" name="Date Placeholder 3">
            <a:extLst>
              <a:ext uri="{FF2B5EF4-FFF2-40B4-BE49-F238E27FC236}">
                <a16:creationId xmlns:a16="http://schemas.microsoft.com/office/drawing/2014/main" id="{C69A1216-2D1E-E1D8-1C7E-57A0EBF8507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488EE7A-C3CC-0E4A-B24E-CE06393687BD}" type="datetimeFigureOut">
              <a:rPr lang="en-PT" smtClean="0"/>
              <a:t>23/02/2026</a:t>
            </a:fld>
            <a:endParaRPr lang="en-PT"/>
          </a:p>
        </p:txBody>
      </p:sp>
      <p:sp>
        <p:nvSpPr>
          <p:cNvPr id="5" name="Footer Placeholder 4">
            <a:extLst>
              <a:ext uri="{FF2B5EF4-FFF2-40B4-BE49-F238E27FC236}">
                <a16:creationId xmlns:a16="http://schemas.microsoft.com/office/drawing/2014/main" id="{7DFC1088-F5EA-4F1A-BE63-F06C8052F68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T"/>
          </a:p>
        </p:txBody>
      </p:sp>
      <p:sp>
        <p:nvSpPr>
          <p:cNvPr id="6" name="Slide Number Placeholder 5">
            <a:extLst>
              <a:ext uri="{FF2B5EF4-FFF2-40B4-BE49-F238E27FC236}">
                <a16:creationId xmlns:a16="http://schemas.microsoft.com/office/drawing/2014/main" id="{3115FAB6-B674-7B1B-5888-D701F1C4D05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6C7BE31-AA34-3646-A340-3B484ED754DB}" type="slidenum">
              <a:rPr lang="en-PT" smtClean="0"/>
              <a:t>‹#›</a:t>
            </a:fld>
            <a:endParaRPr lang="en-PT"/>
          </a:p>
        </p:txBody>
      </p:sp>
    </p:spTree>
    <p:extLst>
      <p:ext uri="{BB962C8B-B14F-4D97-AF65-F5344CB8AC3E}">
        <p14:creationId xmlns:p14="http://schemas.microsoft.com/office/powerpoint/2010/main" val="1783685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1123D838-AB42-5E78-8259-3940FD44B206}"/>
              </a:ext>
            </a:extLst>
          </p:cNvPr>
          <p:cNvSpPr txBox="1"/>
          <p:nvPr/>
        </p:nvSpPr>
        <p:spPr>
          <a:xfrm>
            <a:off x="1100417" y="1788459"/>
            <a:ext cx="9991165" cy="1200329"/>
          </a:xfrm>
          <a:prstGeom prst="rect">
            <a:avLst/>
          </a:prstGeom>
          <a:noFill/>
        </p:spPr>
        <p:txBody>
          <a:bodyPr wrap="square" rtlCol="0">
            <a:spAutoFit/>
          </a:bodyPr>
          <a:lstStyle/>
          <a:p>
            <a:pPr algn="ctr"/>
            <a:r>
              <a:rPr lang="en-PT" sz="3600" dirty="0">
                <a:solidFill>
                  <a:srgbClr val="002060"/>
                </a:solidFill>
                <a:latin typeface="Intro Inline" panose="02000000000000000000" pitchFamily="2" charset="0"/>
              </a:rPr>
              <a:t>Seismic Hazard Assessment for Mainland Portugal</a:t>
            </a:r>
          </a:p>
        </p:txBody>
      </p:sp>
      <p:sp>
        <p:nvSpPr>
          <p:cNvPr id="9" name="TextBox 8">
            <a:extLst>
              <a:ext uri="{FF2B5EF4-FFF2-40B4-BE49-F238E27FC236}">
                <a16:creationId xmlns:a16="http://schemas.microsoft.com/office/drawing/2014/main" id="{C69472C5-5D95-0DE4-E84D-E512D68C2E3E}"/>
              </a:ext>
            </a:extLst>
          </p:cNvPr>
          <p:cNvSpPr txBox="1"/>
          <p:nvPr/>
        </p:nvSpPr>
        <p:spPr>
          <a:xfrm>
            <a:off x="2566827" y="3429000"/>
            <a:ext cx="7058343" cy="400110"/>
          </a:xfrm>
          <a:prstGeom prst="rect">
            <a:avLst/>
          </a:prstGeom>
          <a:noFill/>
        </p:spPr>
        <p:txBody>
          <a:bodyPr wrap="none" rtlCol="0">
            <a:spAutoFit/>
          </a:bodyPr>
          <a:lstStyle/>
          <a:p>
            <a:r>
              <a:rPr lang="en-PT" sz="2000" dirty="0">
                <a:solidFill>
                  <a:srgbClr val="002060"/>
                </a:solidFill>
                <a:latin typeface="Titillium Web" pitchFamily="2" charset="77"/>
              </a:rPr>
              <a:t>Vitor Silva, Amir Taherian, Alexandra Carvalho, Vanessa Cimbron</a:t>
            </a:r>
          </a:p>
        </p:txBody>
      </p:sp>
    </p:spTree>
    <p:extLst>
      <p:ext uri="{BB962C8B-B14F-4D97-AF65-F5344CB8AC3E}">
        <p14:creationId xmlns:p14="http://schemas.microsoft.com/office/powerpoint/2010/main" val="9102377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950B3A-7531-57E9-C3B5-3B77E662CA6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C1FF7FC4-4861-90AD-825D-BF254EA2B0AD}"/>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06216C08-6066-BF99-B8CD-8D0031262A26}"/>
              </a:ext>
            </a:extLst>
          </p:cNvPr>
          <p:cNvSpPr txBox="1"/>
          <p:nvPr/>
        </p:nvSpPr>
        <p:spPr>
          <a:xfrm>
            <a:off x="188260" y="1290918"/>
            <a:ext cx="3813246" cy="5355312"/>
          </a:xfrm>
          <a:prstGeom prst="rect">
            <a:avLst/>
          </a:prstGeom>
          <a:noFill/>
        </p:spPr>
        <p:txBody>
          <a:bodyPr wrap="square" rtlCol="0">
            <a:spAutoFit/>
          </a:bodyPr>
          <a:lstStyle/>
          <a:p>
            <a:r>
              <a:rPr lang="en-PT" dirty="0">
                <a:solidFill>
                  <a:srgbClr val="002060"/>
                </a:solidFill>
                <a:latin typeface="Titillium Web" pitchFamily="2" charset="77"/>
              </a:rPr>
              <a:t>Past studies and current ground motion data indicate a large epistemic uncertainty in the selection of ground motion models for Portugal. In particular, several studies indicate different seismogenic trends (e.g., stress drop, geometric attenuation) between inland and offshore events, due to the predominantly stable continental crust.</a:t>
            </a:r>
          </a:p>
          <a:p>
            <a:endParaRPr lang="en-PT" dirty="0">
              <a:solidFill>
                <a:srgbClr val="002060"/>
              </a:solidFill>
              <a:latin typeface="Titillium Web" pitchFamily="2" charset="77"/>
            </a:endParaRPr>
          </a:p>
          <a:p>
            <a:r>
              <a:rPr lang="en-PT" dirty="0">
                <a:solidFill>
                  <a:srgbClr val="002060"/>
                </a:solidFill>
                <a:latin typeface="Titillium Web" pitchFamily="2" charset="77"/>
              </a:rPr>
              <a:t>We performed residual anlysis considering a large suite of ground motion models to identify which proposal seem to predict ground shaking adequately. This figure presenta the results for 5 of the candidate models.</a:t>
            </a:r>
          </a:p>
        </p:txBody>
      </p:sp>
      <p:pic>
        <p:nvPicPr>
          <p:cNvPr id="3" name="Picture 2" descr="A chart of different colored lines&#10;&#10;AI-generated content may be incorrect.">
            <a:extLst>
              <a:ext uri="{FF2B5EF4-FFF2-40B4-BE49-F238E27FC236}">
                <a16:creationId xmlns:a16="http://schemas.microsoft.com/office/drawing/2014/main" id="{E0B85409-7C03-0C39-8792-474079B4611F}"/>
              </a:ext>
            </a:extLst>
          </p:cNvPr>
          <p:cNvPicPr>
            <a:picLocks noChangeAspect="1"/>
          </p:cNvPicPr>
          <p:nvPr/>
        </p:nvPicPr>
        <p:blipFill>
          <a:blip r:embed="rId2"/>
          <a:stretch>
            <a:fillRect/>
          </a:stretch>
        </p:blipFill>
        <p:spPr>
          <a:xfrm>
            <a:off x="3729285" y="174812"/>
            <a:ext cx="8274455" cy="6471418"/>
          </a:xfrm>
          <a:prstGeom prst="rect">
            <a:avLst/>
          </a:prstGeom>
        </p:spPr>
      </p:pic>
    </p:spTree>
    <p:extLst>
      <p:ext uri="{BB962C8B-B14F-4D97-AF65-F5344CB8AC3E}">
        <p14:creationId xmlns:p14="http://schemas.microsoft.com/office/powerpoint/2010/main" val="25507841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A14CC3-1951-1605-40D5-D56524A1806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81997996-E612-19FF-C304-B21302405F2C}"/>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61E945E1-0CB9-2FBA-FAA8-BE2BA2FC51BD}"/>
              </a:ext>
            </a:extLst>
          </p:cNvPr>
          <p:cNvSpPr txBox="1"/>
          <p:nvPr/>
        </p:nvSpPr>
        <p:spPr>
          <a:xfrm>
            <a:off x="188260" y="1290918"/>
            <a:ext cx="3813246" cy="5355312"/>
          </a:xfrm>
          <a:prstGeom prst="rect">
            <a:avLst/>
          </a:prstGeom>
          <a:noFill/>
        </p:spPr>
        <p:txBody>
          <a:bodyPr wrap="square" rtlCol="0">
            <a:spAutoFit/>
          </a:bodyPr>
          <a:lstStyle/>
          <a:p>
            <a:r>
              <a:rPr lang="en-PT" dirty="0">
                <a:solidFill>
                  <a:srgbClr val="002060"/>
                </a:solidFill>
                <a:latin typeface="Titillium Web" pitchFamily="2" charset="77"/>
              </a:rPr>
              <a:t>Past studies and current ground motion data indicate a large epistemic uncertainty in the selection of ground motion models for Portugal. In particular, several studies indicate different seismogenic trends (e.g., stress drop, geometric attenuation) between inland and offshore events, due to the predominantly stable continental crust.</a:t>
            </a:r>
          </a:p>
          <a:p>
            <a:endParaRPr lang="en-PT" dirty="0">
              <a:solidFill>
                <a:srgbClr val="002060"/>
              </a:solidFill>
              <a:latin typeface="Titillium Web" pitchFamily="2" charset="77"/>
            </a:endParaRPr>
          </a:p>
          <a:p>
            <a:r>
              <a:rPr lang="en-PT" dirty="0">
                <a:solidFill>
                  <a:srgbClr val="002060"/>
                </a:solidFill>
                <a:latin typeface="Titillium Web" pitchFamily="2" charset="77"/>
              </a:rPr>
              <a:t>We performed residual anlysis considering a large suite of ground motion models to identify which proposal seem to predict ground shaking adequately. This figure presenta the results for 5 of the candidate models.</a:t>
            </a:r>
          </a:p>
        </p:txBody>
      </p:sp>
      <p:pic>
        <p:nvPicPr>
          <p:cNvPr id="5" name="Picture 4" descr="A group of diagrams with different colored lines&#10;&#10;AI-generated content may be incorrect.">
            <a:extLst>
              <a:ext uri="{FF2B5EF4-FFF2-40B4-BE49-F238E27FC236}">
                <a16:creationId xmlns:a16="http://schemas.microsoft.com/office/drawing/2014/main" id="{2C464165-F03D-EBDA-8494-57F1C9531976}"/>
              </a:ext>
            </a:extLst>
          </p:cNvPr>
          <p:cNvPicPr>
            <a:picLocks noChangeAspect="1"/>
          </p:cNvPicPr>
          <p:nvPr/>
        </p:nvPicPr>
        <p:blipFill>
          <a:blip r:embed="rId2"/>
          <a:stretch>
            <a:fillRect/>
          </a:stretch>
        </p:blipFill>
        <p:spPr>
          <a:xfrm>
            <a:off x="3593338" y="0"/>
            <a:ext cx="8504534" cy="6858000"/>
          </a:xfrm>
          <a:prstGeom prst="rect">
            <a:avLst/>
          </a:prstGeom>
        </p:spPr>
      </p:pic>
    </p:spTree>
    <p:extLst>
      <p:ext uri="{BB962C8B-B14F-4D97-AF65-F5344CB8AC3E}">
        <p14:creationId xmlns:p14="http://schemas.microsoft.com/office/powerpoint/2010/main" val="334423678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257982-56AC-CD3E-B886-8376125F4E65}"/>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0E0100F9-AA75-710D-7245-36B068A1C520}"/>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ED2EDCA5-B203-440D-EE8B-A98DAA28FA23}"/>
              </a:ext>
            </a:extLst>
          </p:cNvPr>
          <p:cNvSpPr txBox="1"/>
          <p:nvPr/>
        </p:nvSpPr>
        <p:spPr>
          <a:xfrm>
            <a:off x="188260" y="1290918"/>
            <a:ext cx="3813246" cy="3970318"/>
          </a:xfrm>
          <a:prstGeom prst="rect">
            <a:avLst/>
          </a:prstGeom>
          <a:noFill/>
        </p:spPr>
        <p:txBody>
          <a:bodyPr wrap="square" rtlCol="0">
            <a:spAutoFit/>
          </a:bodyPr>
          <a:lstStyle/>
          <a:p>
            <a:r>
              <a:rPr lang="en-PT" dirty="0">
                <a:solidFill>
                  <a:srgbClr val="002060"/>
                </a:solidFill>
                <a:latin typeface="Titillium Web" pitchFamily="2" charset="77"/>
              </a:rPr>
              <a:t>The residual analyses allowed reducing the candidate models to 4 for inland and offshore events, as presented in this logic tree. We have selected 2 national models and 2 regional/global models for each type of event. </a:t>
            </a:r>
          </a:p>
          <a:p>
            <a:endParaRPr lang="en-PT" dirty="0">
              <a:solidFill>
                <a:srgbClr val="002060"/>
              </a:solidFill>
              <a:latin typeface="Titillium Web" pitchFamily="2" charset="77"/>
            </a:endParaRPr>
          </a:p>
          <a:p>
            <a:r>
              <a:rPr lang="en-PT" dirty="0">
                <a:solidFill>
                  <a:srgbClr val="002060"/>
                </a:solidFill>
                <a:latin typeface="Titillium Web" pitchFamily="2" charset="77"/>
              </a:rPr>
              <a:t>The following slides present the resulting seismic hazard (PGA for the 475 years return period) for mainland Portugal, considering different combinations of ground motion models.</a:t>
            </a:r>
          </a:p>
        </p:txBody>
      </p:sp>
      <p:sp>
        <p:nvSpPr>
          <p:cNvPr id="2" name="Rounded Rectangle 1">
            <a:extLst>
              <a:ext uri="{FF2B5EF4-FFF2-40B4-BE49-F238E27FC236}">
                <a16:creationId xmlns:a16="http://schemas.microsoft.com/office/drawing/2014/main" id="{F356F9A4-64CB-25F3-E55D-9C4E58E0C8C7}"/>
              </a:ext>
            </a:extLst>
          </p:cNvPr>
          <p:cNvSpPr/>
          <p:nvPr/>
        </p:nvSpPr>
        <p:spPr>
          <a:xfrm>
            <a:off x="5331754" y="1659840"/>
            <a:ext cx="1900517" cy="540000"/>
          </a:xfrm>
          <a:custGeom>
            <a:avLst/>
            <a:gdLst>
              <a:gd name="csX0" fmla="*/ 0 w 1900517"/>
              <a:gd name="csY0" fmla="*/ 90002 h 540000"/>
              <a:gd name="csX1" fmla="*/ 90002 w 1900517"/>
              <a:gd name="csY1" fmla="*/ 0 h 540000"/>
              <a:gd name="csX2" fmla="*/ 697917 w 1900517"/>
              <a:gd name="csY2" fmla="*/ 0 h 540000"/>
              <a:gd name="csX3" fmla="*/ 1237011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88626 w 1900517"/>
              <a:gd name="csY8" fmla="*/ 540000 h 540000"/>
              <a:gd name="csX9" fmla="*/ 749532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087" y="38649"/>
                  <a:pt x="43463" y="-6345"/>
                  <a:pt x="90002" y="0"/>
                </a:cubicBezTo>
                <a:cubicBezTo>
                  <a:pt x="355467" y="-11402"/>
                  <a:pt x="418479" y="-24424"/>
                  <a:pt x="697917" y="0"/>
                </a:cubicBezTo>
                <a:cubicBezTo>
                  <a:pt x="977355" y="24424"/>
                  <a:pt x="1101179" y="14266"/>
                  <a:pt x="1237011" y="0"/>
                </a:cubicBezTo>
                <a:cubicBezTo>
                  <a:pt x="1372843" y="-14266"/>
                  <a:pt x="1674162" y="5036"/>
                  <a:pt x="1810515" y="0"/>
                </a:cubicBezTo>
                <a:cubicBezTo>
                  <a:pt x="1855025" y="4326"/>
                  <a:pt x="1897497" y="36661"/>
                  <a:pt x="1900517" y="90002"/>
                </a:cubicBezTo>
                <a:cubicBezTo>
                  <a:pt x="1908869" y="201270"/>
                  <a:pt x="1883065" y="375920"/>
                  <a:pt x="1900517" y="449998"/>
                </a:cubicBezTo>
                <a:cubicBezTo>
                  <a:pt x="1900670" y="506052"/>
                  <a:pt x="1855613" y="532917"/>
                  <a:pt x="1810515" y="540000"/>
                </a:cubicBezTo>
                <a:cubicBezTo>
                  <a:pt x="1637650" y="563456"/>
                  <a:pt x="1547323" y="545042"/>
                  <a:pt x="1288626" y="540000"/>
                </a:cubicBezTo>
                <a:cubicBezTo>
                  <a:pt x="1029929" y="534958"/>
                  <a:pt x="996056" y="542827"/>
                  <a:pt x="749532" y="540000"/>
                </a:cubicBezTo>
                <a:cubicBezTo>
                  <a:pt x="503008" y="537173"/>
                  <a:pt x="276055" y="541826"/>
                  <a:pt x="90002" y="540000"/>
                </a:cubicBezTo>
                <a:cubicBezTo>
                  <a:pt x="35954" y="530914"/>
                  <a:pt x="-10400" y="498643"/>
                  <a:pt x="0" y="449998"/>
                </a:cubicBezTo>
                <a:cubicBezTo>
                  <a:pt x="-3029" y="314961"/>
                  <a:pt x="11156" y="206338"/>
                  <a:pt x="0" y="90002"/>
                </a:cubicBezTo>
                <a:close/>
              </a:path>
              <a:path w="1900517" h="540000" stroke="0" extrusionOk="0">
                <a:moveTo>
                  <a:pt x="0" y="90002"/>
                </a:moveTo>
                <a:cubicBezTo>
                  <a:pt x="931" y="39480"/>
                  <a:pt x="37705" y="-655"/>
                  <a:pt x="90002" y="0"/>
                </a:cubicBezTo>
                <a:cubicBezTo>
                  <a:pt x="241798" y="-8962"/>
                  <a:pt x="420135" y="11875"/>
                  <a:pt x="611891" y="0"/>
                </a:cubicBezTo>
                <a:cubicBezTo>
                  <a:pt x="803647" y="-11875"/>
                  <a:pt x="917558" y="8808"/>
                  <a:pt x="1133780" y="0"/>
                </a:cubicBezTo>
                <a:cubicBezTo>
                  <a:pt x="1350002" y="-8808"/>
                  <a:pt x="1500364" y="-33721"/>
                  <a:pt x="1810515" y="0"/>
                </a:cubicBezTo>
                <a:cubicBezTo>
                  <a:pt x="1862168" y="12259"/>
                  <a:pt x="1898437" y="28231"/>
                  <a:pt x="1900517" y="90002"/>
                </a:cubicBezTo>
                <a:cubicBezTo>
                  <a:pt x="1915217" y="215299"/>
                  <a:pt x="1886176" y="303641"/>
                  <a:pt x="1900517" y="449998"/>
                </a:cubicBezTo>
                <a:cubicBezTo>
                  <a:pt x="1903078" y="500268"/>
                  <a:pt x="1849728" y="546152"/>
                  <a:pt x="1810515" y="540000"/>
                </a:cubicBezTo>
                <a:cubicBezTo>
                  <a:pt x="1691714" y="549468"/>
                  <a:pt x="1480693" y="559524"/>
                  <a:pt x="1271421" y="540000"/>
                </a:cubicBezTo>
                <a:cubicBezTo>
                  <a:pt x="1062149" y="520476"/>
                  <a:pt x="921989" y="542663"/>
                  <a:pt x="732327" y="540000"/>
                </a:cubicBezTo>
                <a:cubicBezTo>
                  <a:pt x="542665" y="537337"/>
                  <a:pt x="228329" y="549481"/>
                  <a:pt x="90002" y="540000"/>
                </a:cubicBezTo>
                <a:cubicBezTo>
                  <a:pt x="43509" y="538419"/>
                  <a:pt x="1900" y="492535"/>
                  <a:pt x="0" y="449998"/>
                </a:cubicBezTo>
                <a:cubicBezTo>
                  <a:pt x="-318" y="372350"/>
                  <a:pt x="8881" y="231793"/>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82505698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Inland events</a:t>
            </a:r>
          </a:p>
        </p:txBody>
      </p:sp>
      <p:grpSp>
        <p:nvGrpSpPr>
          <p:cNvPr id="12" name="Group 11">
            <a:extLst>
              <a:ext uri="{FF2B5EF4-FFF2-40B4-BE49-F238E27FC236}">
                <a16:creationId xmlns:a16="http://schemas.microsoft.com/office/drawing/2014/main" id="{E784DC87-DC3A-DE71-C1E1-6E2DEB053941}"/>
              </a:ext>
            </a:extLst>
          </p:cNvPr>
          <p:cNvGrpSpPr/>
          <p:nvPr/>
        </p:nvGrpSpPr>
        <p:grpSpPr>
          <a:xfrm>
            <a:off x="8052539" y="625698"/>
            <a:ext cx="3155579" cy="2608284"/>
            <a:chOff x="7736539" y="504675"/>
            <a:chExt cx="1640543" cy="2608284"/>
          </a:xfrm>
          <a:solidFill>
            <a:schemeClr val="accent4">
              <a:lumMod val="20000"/>
              <a:lumOff val="80000"/>
            </a:schemeClr>
          </a:solidFill>
        </p:grpSpPr>
        <p:sp>
          <p:nvSpPr>
            <p:cNvPr id="3" name="Rounded Rectangle 2">
              <a:extLst>
                <a:ext uri="{FF2B5EF4-FFF2-40B4-BE49-F238E27FC236}">
                  <a16:creationId xmlns:a16="http://schemas.microsoft.com/office/drawing/2014/main" id="{B1B3EA62-006B-4369-5D35-7A62866E98DA}"/>
                </a:ext>
              </a:extLst>
            </p:cNvPr>
            <p:cNvSpPr/>
            <p:nvPr/>
          </p:nvSpPr>
          <p:spPr>
            <a:xfrm>
              <a:off x="7736541" y="504675"/>
              <a:ext cx="1640541" cy="540000"/>
            </a:xfrm>
            <a:custGeom>
              <a:avLst/>
              <a:gdLst>
                <a:gd name="csX0" fmla="*/ 0 w 3155575"/>
                <a:gd name="csY0" fmla="*/ 90002 h 540000"/>
                <a:gd name="csX1" fmla="*/ 90002 w 3155575"/>
                <a:gd name="csY1" fmla="*/ 0 h 540000"/>
                <a:gd name="csX2" fmla="*/ 625605 w 3155575"/>
                <a:gd name="csY2" fmla="*/ 0 h 540000"/>
                <a:gd name="csX3" fmla="*/ 1220719 w 3155575"/>
                <a:gd name="csY3" fmla="*/ 0 h 540000"/>
                <a:gd name="csX4" fmla="*/ 1756322 w 3155575"/>
                <a:gd name="csY4" fmla="*/ 0 h 540000"/>
                <a:gd name="csX5" fmla="*/ 2351436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500215 w 3155575"/>
                <a:gd name="csY10" fmla="*/ 540000 h 540000"/>
                <a:gd name="csX11" fmla="*/ 1994367 w 3155575"/>
                <a:gd name="csY11" fmla="*/ 540000 h 540000"/>
                <a:gd name="csX12" fmla="*/ 1369498 w 3155575"/>
                <a:gd name="csY12" fmla="*/ 540000 h 540000"/>
                <a:gd name="csX13" fmla="*/ 833895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620" y="41404"/>
                    <a:pt x="42369" y="1541"/>
                    <a:pt x="90002" y="0"/>
                  </a:cubicBezTo>
                  <a:cubicBezTo>
                    <a:pt x="216137" y="1015"/>
                    <a:pt x="479248" y="6286"/>
                    <a:pt x="625605" y="0"/>
                  </a:cubicBezTo>
                  <a:cubicBezTo>
                    <a:pt x="771962" y="-6286"/>
                    <a:pt x="1014105" y="-7901"/>
                    <a:pt x="1220719" y="0"/>
                  </a:cubicBezTo>
                  <a:cubicBezTo>
                    <a:pt x="1427333" y="7901"/>
                    <a:pt x="1642026" y="-14423"/>
                    <a:pt x="1756322" y="0"/>
                  </a:cubicBezTo>
                  <a:cubicBezTo>
                    <a:pt x="1870618" y="14423"/>
                    <a:pt x="2186052" y="-16973"/>
                    <a:pt x="2351436" y="0"/>
                  </a:cubicBezTo>
                  <a:cubicBezTo>
                    <a:pt x="2516820" y="16973"/>
                    <a:pt x="2899000" y="-18730"/>
                    <a:pt x="3065573" y="0"/>
                  </a:cubicBezTo>
                  <a:cubicBezTo>
                    <a:pt x="3117706" y="-7462"/>
                    <a:pt x="3156551" y="41350"/>
                    <a:pt x="3155575" y="90002"/>
                  </a:cubicBezTo>
                  <a:cubicBezTo>
                    <a:pt x="3160818" y="179923"/>
                    <a:pt x="3166457" y="376404"/>
                    <a:pt x="3155575" y="449998"/>
                  </a:cubicBezTo>
                  <a:cubicBezTo>
                    <a:pt x="3155172" y="491350"/>
                    <a:pt x="3117214" y="541218"/>
                    <a:pt x="3065573" y="540000"/>
                  </a:cubicBezTo>
                  <a:cubicBezTo>
                    <a:pt x="2858710" y="543446"/>
                    <a:pt x="2701242" y="528015"/>
                    <a:pt x="2500215" y="540000"/>
                  </a:cubicBezTo>
                  <a:cubicBezTo>
                    <a:pt x="2299188" y="551985"/>
                    <a:pt x="2197222" y="514714"/>
                    <a:pt x="1994367" y="540000"/>
                  </a:cubicBezTo>
                  <a:cubicBezTo>
                    <a:pt x="1791512" y="565286"/>
                    <a:pt x="1572355" y="535880"/>
                    <a:pt x="1369498" y="540000"/>
                  </a:cubicBezTo>
                  <a:cubicBezTo>
                    <a:pt x="1166641" y="544120"/>
                    <a:pt x="1095232" y="542631"/>
                    <a:pt x="833895" y="540000"/>
                  </a:cubicBezTo>
                  <a:cubicBezTo>
                    <a:pt x="572558" y="537369"/>
                    <a:pt x="405931" y="541985"/>
                    <a:pt x="90002" y="540000"/>
                  </a:cubicBezTo>
                  <a:cubicBezTo>
                    <a:pt x="42276" y="531356"/>
                    <a:pt x="-6533" y="499494"/>
                    <a:pt x="0" y="449998"/>
                  </a:cubicBezTo>
                  <a:cubicBezTo>
                    <a:pt x="-2774" y="358857"/>
                    <a:pt x="15469" y="180620"/>
                    <a:pt x="0" y="90002"/>
                  </a:cubicBezTo>
                  <a:close/>
                </a:path>
                <a:path w="3155575" h="540000" stroke="0" extrusionOk="0">
                  <a:moveTo>
                    <a:pt x="0" y="90002"/>
                  </a:moveTo>
                  <a:cubicBezTo>
                    <a:pt x="-9037" y="34721"/>
                    <a:pt x="35995" y="1614"/>
                    <a:pt x="90002" y="0"/>
                  </a:cubicBezTo>
                  <a:cubicBezTo>
                    <a:pt x="363867" y="-28478"/>
                    <a:pt x="517290" y="-2228"/>
                    <a:pt x="744628" y="0"/>
                  </a:cubicBezTo>
                  <a:cubicBezTo>
                    <a:pt x="971966" y="2228"/>
                    <a:pt x="1105994" y="-13646"/>
                    <a:pt x="1309986" y="0"/>
                  </a:cubicBezTo>
                  <a:cubicBezTo>
                    <a:pt x="1513978" y="13646"/>
                    <a:pt x="1662595" y="23350"/>
                    <a:pt x="1845589" y="0"/>
                  </a:cubicBezTo>
                  <a:cubicBezTo>
                    <a:pt x="2028583" y="-23350"/>
                    <a:pt x="2224723" y="4861"/>
                    <a:pt x="2470459" y="0"/>
                  </a:cubicBezTo>
                  <a:cubicBezTo>
                    <a:pt x="2716195" y="-4861"/>
                    <a:pt x="2881533" y="26021"/>
                    <a:pt x="3065573" y="0"/>
                  </a:cubicBezTo>
                  <a:cubicBezTo>
                    <a:pt x="3120920" y="-9178"/>
                    <a:pt x="3151538" y="43842"/>
                    <a:pt x="3155575" y="90002"/>
                  </a:cubicBezTo>
                  <a:cubicBezTo>
                    <a:pt x="3161413" y="175369"/>
                    <a:pt x="3165521" y="305738"/>
                    <a:pt x="3155575" y="449998"/>
                  </a:cubicBezTo>
                  <a:cubicBezTo>
                    <a:pt x="3162896" y="501465"/>
                    <a:pt x="3104800" y="538305"/>
                    <a:pt x="3065573" y="540000"/>
                  </a:cubicBezTo>
                  <a:cubicBezTo>
                    <a:pt x="2871117" y="560054"/>
                    <a:pt x="2722688" y="530462"/>
                    <a:pt x="2470459" y="540000"/>
                  </a:cubicBezTo>
                  <a:cubicBezTo>
                    <a:pt x="2218230" y="549538"/>
                    <a:pt x="2091719" y="517994"/>
                    <a:pt x="1905100" y="540000"/>
                  </a:cubicBezTo>
                  <a:cubicBezTo>
                    <a:pt x="1718481" y="562006"/>
                    <a:pt x="1416086" y="513017"/>
                    <a:pt x="1250475" y="540000"/>
                  </a:cubicBezTo>
                  <a:cubicBezTo>
                    <a:pt x="1084864" y="566983"/>
                    <a:pt x="834463" y="525396"/>
                    <a:pt x="595849" y="540000"/>
                  </a:cubicBezTo>
                  <a:cubicBezTo>
                    <a:pt x="357235" y="554604"/>
                    <a:pt x="327179" y="563190"/>
                    <a:pt x="90002" y="540000"/>
                  </a:cubicBezTo>
                  <a:cubicBezTo>
                    <a:pt x="38717" y="538513"/>
                    <a:pt x="-1301" y="497760"/>
                    <a:pt x="0" y="449998"/>
                  </a:cubicBezTo>
                  <a:cubicBezTo>
                    <a:pt x="9177" y="311553"/>
                    <a:pt x="9700" y="186893"/>
                    <a:pt x="0" y="90002"/>
                  </a:cubicBezTo>
                  <a:close/>
                </a:path>
              </a:pathLst>
            </a:custGeom>
            <a:grp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Morgado et al. 2026 </a:t>
              </a:r>
              <a:r>
                <a:rPr lang="en-PT" sz="1100" dirty="0">
                  <a:solidFill>
                    <a:srgbClr val="002060"/>
                  </a:solidFill>
                  <a:latin typeface="Titillium Web" pitchFamily="2" charset="77"/>
                </a:rPr>
                <a:t>(inland)</a:t>
              </a:r>
              <a:endParaRPr lang="en-PT" dirty="0">
                <a:solidFill>
                  <a:srgbClr val="002060"/>
                </a:solidFill>
                <a:latin typeface="Titillium Web" pitchFamily="2" charset="77"/>
              </a:endParaRPr>
            </a:p>
          </p:txBody>
        </p:sp>
        <p:sp>
          <p:nvSpPr>
            <p:cNvPr id="4" name="Rounded Rectangle 3">
              <a:extLst>
                <a:ext uri="{FF2B5EF4-FFF2-40B4-BE49-F238E27FC236}">
                  <a16:creationId xmlns:a16="http://schemas.microsoft.com/office/drawing/2014/main" id="{C476CAD9-BAAC-582F-1757-DCD59CB57F5C}"/>
                </a:ext>
              </a:extLst>
            </p:cNvPr>
            <p:cNvSpPr/>
            <p:nvPr/>
          </p:nvSpPr>
          <p:spPr>
            <a:xfrm>
              <a:off x="7736540" y="1194103"/>
              <a:ext cx="1640541" cy="540000"/>
            </a:xfrm>
            <a:custGeom>
              <a:avLst/>
              <a:gdLst>
                <a:gd name="csX0" fmla="*/ 0 w 3155575"/>
                <a:gd name="csY0" fmla="*/ 90002 h 540000"/>
                <a:gd name="csX1" fmla="*/ 90002 w 3155575"/>
                <a:gd name="csY1" fmla="*/ 0 h 540000"/>
                <a:gd name="csX2" fmla="*/ 714872 w 3155575"/>
                <a:gd name="csY2" fmla="*/ 0 h 540000"/>
                <a:gd name="csX3" fmla="*/ 1309986 w 3155575"/>
                <a:gd name="csY3" fmla="*/ 0 h 540000"/>
                <a:gd name="csX4" fmla="*/ 1815833 w 3155575"/>
                <a:gd name="csY4" fmla="*/ 0 h 540000"/>
                <a:gd name="csX5" fmla="*/ 2410947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470459 w 3155575"/>
                <a:gd name="csY10" fmla="*/ 540000 h 540000"/>
                <a:gd name="csX11" fmla="*/ 1845589 w 3155575"/>
                <a:gd name="csY11" fmla="*/ 540000 h 540000"/>
                <a:gd name="csX12" fmla="*/ 1250475 w 3155575"/>
                <a:gd name="csY12" fmla="*/ 540000 h 540000"/>
                <a:gd name="csX13" fmla="*/ 90002 w 3155575"/>
                <a:gd name="csY13" fmla="*/ 540000 h 540000"/>
                <a:gd name="csX14" fmla="*/ 0 w 3155575"/>
                <a:gd name="csY14" fmla="*/ 449998 h 540000"/>
                <a:gd name="csX15" fmla="*/ 0 w 3155575"/>
                <a:gd name="csY15"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155575" h="540000" fill="none" extrusionOk="0">
                  <a:moveTo>
                    <a:pt x="0" y="90002"/>
                  </a:moveTo>
                  <a:cubicBezTo>
                    <a:pt x="1922" y="41335"/>
                    <a:pt x="35543" y="1911"/>
                    <a:pt x="90002" y="0"/>
                  </a:cubicBezTo>
                  <a:cubicBezTo>
                    <a:pt x="305042" y="9675"/>
                    <a:pt x="405999" y="4208"/>
                    <a:pt x="714872" y="0"/>
                  </a:cubicBezTo>
                  <a:cubicBezTo>
                    <a:pt x="1023745" y="-4208"/>
                    <a:pt x="1069767" y="24946"/>
                    <a:pt x="1309986" y="0"/>
                  </a:cubicBezTo>
                  <a:cubicBezTo>
                    <a:pt x="1550205" y="-24946"/>
                    <a:pt x="1669596" y="23811"/>
                    <a:pt x="1815833" y="0"/>
                  </a:cubicBezTo>
                  <a:cubicBezTo>
                    <a:pt x="1962070" y="-23811"/>
                    <a:pt x="2146282" y="-29448"/>
                    <a:pt x="2410947" y="0"/>
                  </a:cubicBezTo>
                  <a:cubicBezTo>
                    <a:pt x="2675612" y="29448"/>
                    <a:pt x="2769285" y="-21862"/>
                    <a:pt x="3065573" y="0"/>
                  </a:cubicBezTo>
                  <a:cubicBezTo>
                    <a:pt x="3118503" y="4181"/>
                    <a:pt x="3164334" y="38444"/>
                    <a:pt x="3155575" y="90002"/>
                  </a:cubicBezTo>
                  <a:cubicBezTo>
                    <a:pt x="3147869" y="194946"/>
                    <a:pt x="3170561" y="335901"/>
                    <a:pt x="3155575" y="449998"/>
                  </a:cubicBezTo>
                  <a:cubicBezTo>
                    <a:pt x="3155100" y="501253"/>
                    <a:pt x="3114509" y="543478"/>
                    <a:pt x="3065573" y="540000"/>
                  </a:cubicBezTo>
                  <a:cubicBezTo>
                    <a:pt x="2913699" y="517268"/>
                    <a:pt x="2644401" y="520866"/>
                    <a:pt x="2470459" y="540000"/>
                  </a:cubicBezTo>
                  <a:cubicBezTo>
                    <a:pt x="2296517" y="559134"/>
                    <a:pt x="2010639" y="543092"/>
                    <a:pt x="1845589" y="540000"/>
                  </a:cubicBezTo>
                  <a:cubicBezTo>
                    <a:pt x="1680539" y="536909"/>
                    <a:pt x="1386304" y="561886"/>
                    <a:pt x="1250475" y="540000"/>
                  </a:cubicBezTo>
                  <a:cubicBezTo>
                    <a:pt x="1114646" y="518114"/>
                    <a:pt x="458229" y="563349"/>
                    <a:pt x="90002" y="540000"/>
                  </a:cubicBezTo>
                  <a:cubicBezTo>
                    <a:pt x="39682" y="548600"/>
                    <a:pt x="-7938" y="508249"/>
                    <a:pt x="0" y="449998"/>
                  </a:cubicBezTo>
                  <a:cubicBezTo>
                    <a:pt x="10292" y="338017"/>
                    <a:pt x="-8362" y="240595"/>
                    <a:pt x="0" y="90002"/>
                  </a:cubicBezTo>
                  <a:close/>
                </a:path>
                <a:path w="3155575" h="540000" stroke="0" extrusionOk="0">
                  <a:moveTo>
                    <a:pt x="0" y="90002"/>
                  </a:moveTo>
                  <a:cubicBezTo>
                    <a:pt x="-5043" y="48919"/>
                    <a:pt x="49782" y="-6416"/>
                    <a:pt x="90002" y="0"/>
                  </a:cubicBezTo>
                  <a:cubicBezTo>
                    <a:pt x="301942" y="27798"/>
                    <a:pt x="512665" y="23850"/>
                    <a:pt x="714872" y="0"/>
                  </a:cubicBezTo>
                  <a:cubicBezTo>
                    <a:pt x="917079" y="-23850"/>
                    <a:pt x="1055662" y="-4013"/>
                    <a:pt x="1309986" y="0"/>
                  </a:cubicBezTo>
                  <a:cubicBezTo>
                    <a:pt x="1564310" y="4013"/>
                    <a:pt x="1707279" y="3867"/>
                    <a:pt x="1905100" y="0"/>
                  </a:cubicBezTo>
                  <a:cubicBezTo>
                    <a:pt x="2102921" y="-3867"/>
                    <a:pt x="2309859" y="16717"/>
                    <a:pt x="2500215" y="0"/>
                  </a:cubicBezTo>
                  <a:cubicBezTo>
                    <a:pt x="2690571" y="-16717"/>
                    <a:pt x="2811303" y="21713"/>
                    <a:pt x="3065573" y="0"/>
                  </a:cubicBezTo>
                  <a:cubicBezTo>
                    <a:pt x="3123608" y="-1893"/>
                    <a:pt x="3154114" y="37186"/>
                    <a:pt x="3155575" y="90002"/>
                  </a:cubicBezTo>
                  <a:cubicBezTo>
                    <a:pt x="3155732" y="235591"/>
                    <a:pt x="3150042" y="270068"/>
                    <a:pt x="3155575" y="449998"/>
                  </a:cubicBezTo>
                  <a:cubicBezTo>
                    <a:pt x="3146641" y="502293"/>
                    <a:pt x="3115603" y="537340"/>
                    <a:pt x="3065573" y="540000"/>
                  </a:cubicBezTo>
                  <a:cubicBezTo>
                    <a:pt x="2786702" y="543104"/>
                    <a:pt x="2734155" y="520037"/>
                    <a:pt x="2500215" y="540000"/>
                  </a:cubicBezTo>
                  <a:cubicBezTo>
                    <a:pt x="2266275" y="559963"/>
                    <a:pt x="2087567" y="531344"/>
                    <a:pt x="1875345" y="540000"/>
                  </a:cubicBezTo>
                  <a:cubicBezTo>
                    <a:pt x="1663123" y="548657"/>
                    <a:pt x="1442257" y="533380"/>
                    <a:pt x="1220719" y="540000"/>
                  </a:cubicBezTo>
                  <a:cubicBezTo>
                    <a:pt x="999181" y="546620"/>
                    <a:pt x="862257" y="544372"/>
                    <a:pt x="685116" y="540000"/>
                  </a:cubicBezTo>
                  <a:cubicBezTo>
                    <a:pt x="507975" y="535628"/>
                    <a:pt x="305736" y="549435"/>
                    <a:pt x="90002" y="540000"/>
                  </a:cubicBezTo>
                  <a:cubicBezTo>
                    <a:pt x="44227" y="538355"/>
                    <a:pt x="-9366" y="497901"/>
                    <a:pt x="0" y="449998"/>
                  </a:cubicBezTo>
                  <a:cubicBezTo>
                    <a:pt x="12936" y="337821"/>
                    <a:pt x="2750" y="166490"/>
                    <a:pt x="0" y="90002"/>
                  </a:cubicBezTo>
                  <a:close/>
                </a:path>
              </a:pathLst>
            </a:custGeom>
            <a:grpFill/>
            <a:ln>
              <a:solidFill>
                <a:srgbClr val="002060"/>
              </a:solidFill>
              <a:extLst>
                <a:ext uri="{C807C97D-BFC1-408E-A445-0C87EB9F89A2}">
                  <ask:lineSketchStyleProps xmlns:ask="http://schemas.microsoft.com/office/drawing/2018/sketchyshapes" sd="2842418190">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Taherin et al. 2025 </a:t>
              </a:r>
              <a:r>
                <a:rPr lang="en-PT" sz="1200" dirty="0">
                  <a:solidFill>
                    <a:srgbClr val="002060"/>
                  </a:solidFill>
                  <a:latin typeface="Titillium Web" pitchFamily="2" charset="77"/>
                </a:rPr>
                <a:t>(inland)</a:t>
              </a:r>
              <a:endParaRPr lang="en-PT" dirty="0">
                <a:solidFill>
                  <a:srgbClr val="002060"/>
                </a:solidFill>
                <a:latin typeface="Titillium Web" pitchFamily="2" charset="77"/>
              </a:endParaRPr>
            </a:p>
          </p:txBody>
        </p:sp>
        <p:sp>
          <p:nvSpPr>
            <p:cNvPr id="6" name="Rounded Rectangle 5">
              <a:extLst>
                <a:ext uri="{FF2B5EF4-FFF2-40B4-BE49-F238E27FC236}">
                  <a16:creationId xmlns:a16="http://schemas.microsoft.com/office/drawing/2014/main" id="{9F9C1FD0-8F35-FDC1-E87A-1CBBAF07C557}"/>
                </a:ext>
              </a:extLst>
            </p:cNvPr>
            <p:cNvSpPr/>
            <p:nvPr/>
          </p:nvSpPr>
          <p:spPr>
            <a:xfrm>
              <a:off x="7736540" y="1883531"/>
              <a:ext cx="1640541" cy="540000"/>
            </a:xfrm>
            <a:custGeom>
              <a:avLst/>
              <a:gdLst>
                <a:gd name="csX0" fmla="*/ 0 w 3155575"/>
                <a:gd name="csY0" fmla="*/ 90002 h 540000"/>
                <a:gd name="csX1" fmla="*/ 90002 w 3155575"/>
                <a:gd name="csY1" fmla="*/ 0 h 540000"/>
                <a:gd name="csX2" fmla="*/ 625605 w 3155575"/>
                <a:gd name="csY2" fmla="*/ 0 h 540000"/>
                <a:gd name="csX3" fmla="*/ 1190963 w 3155575"/>
                <a:gd name="csY3" fmla="*/ 0 h 540000"/>
                <a:gd name="csX4" fmla="*/ 1756322 w 3155575"/>
                <a:gd name="csY4" fmla="*/ 0 h 540000"/>
                <a:gd name="csX5" fmla="*/ 2410947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470459 w 3155575"/>
                <a:gd name="csY10" fmla="*/ 540000 h 540000"/>
                <a:gd name="csX11" fmla="*/ 1905100 w 3155575"/>
                <a:gd name="csY11" fmla="*/ 540000 h 540000"/>
                <a:gd name="csX12" fmla="*/ 1339742 w 3155575"/>
                <a:gd name="csY12" fmla="*/ 540000 h 540000"/>
                <a:gd name="csX13" fmla="*/ 744628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1196" y="40344"/>
                    <a:pt x="39568" y="2403"/>
                    <a:pt x="90002" y="0"/>
                  </a:cubicBezTo>
                  <a:cubicBezTo>
                    <a:pt x="197226" y="-12758"/>
                    <a:pt x="417150" y="-7502"/>
                    <a:pt x="625605" y="0"/>
                  </a:cubicBezTo>
                  <a:cubicBezTo>
                    <a:pt x="834060" y="7502"/>
                    <a:pt x="946897" y="9907"/>
                    <a:pt x="1190963" y="0"/>
                  </a:cubicBezTo>
                  <a:cubicBezTo>
                    <a:pt x="1435029" y="-9907"/>
                    <a:pt x="1617447" y="-12211"/>
                    <a:pt x="1756322" y="0"/>
                  </a:cubicBezTo>
                  <a:cubicBezTo>
                    <a:pt x="1895197" y="12211"/>
                    <a:pt x="2175454" y="15429"/>
                    <a:pt x="2410947" y="0"/>
                  </a:cubicBezTo>
                  <a:cubicBezTo>
                    <a:pt x="2646440" y="-15429"/>
                    <a:pt x="2880719" y="15650"/>
                    <a:pt x="3065573" y="0"/>
                  </a:cubicBezTo>
                  <a:cubicBezTo>
                    <a:pt x="3113152" y="319"/>
                    <a:pt x="3156568" y="45816"/>
                    <a:pt x="3155575" y="90002"/>
                  </a:cubicBezTo>
                  <a:cubicBezTo>
                    <a:pt x="3168941" y="264550"/>
                    <a:pt x="3160886" y="341727"/>
                    <a:pt x="3155575" y="449998"/>
                  </a:cubicBezTo>
                  <a:cubicBezTo>
                    <a:pt x="3152682" y="500234"/>
                    <a:pt x="3119643" y="545873"/>
                    <a:pt x="3065573" y="540000"/>
                  </a:cubicBezTo>
                  <a:cubicBezTo>
                    <a:pt x="2812726" y="531761"/>
                    <a:pt x="2606032" y="563949"/>
                    <a:pt x="2470459" y="540000"/>
                  </a:cubicBezTo>
                  <a:cubicBezTo>
                    <a:pt x="2334886" y="516051"/>
                    <a:pt x="2052081" y="534370"/>
                    <a:pt x="1905100" y="540000"/>
                  </a:cubicBezTo>
                  <a:cubicBezTo>
                    <a:pt x="1758119" y="545630"/>
                    <a:pt x="1531911" y="512760"/>
                    <a:pt x="1339742" y="540000"/>
                  </a:cubicBezTo>
                  <a:cubicBezTo>
                    <a:pt x="1147573" y="567240"/>
                    <a:pt x="868968" y="541710"/>
                    <a:pt x="744628" y="540000"/>
                  </a:cubicBezTo>
                  <a:cubicBezTo>
                    <a:pt x="620288" y="538290"/>
                    <a:pt x="415912" y="561869"/>
                    <a:pt x="90002" y="540000"/>
                  </a:cubicBezTo>
                  <a:cubicBezTo>
                    <a:pt x="33552" y="546657"/>
                    <a:pt x="7847" y="508532"/>
                    <a:pt x="0" y="449998"/>
                  </a:cubicBezTo>
                  <a:cubicBezTo>
                    <a:pt x="-13099" y="337104"/>
                    <a:pt x="13503" y="256448"/>
                    <a:pt x="0" y="90002"/>
                  </a:cubicBezTo>
                  <a:close/>
                </a:path>
                <a:path w="3155575" h="540000" stroke="0" extrusionOk="0">
                  <a:moveTo>
                    <a:pt x="0" y="90002"/>
                  </a:moveTo>
                  <a:cubicBezTo>
                    <a:pt x="975" y="51669"/>
                    <a:pt x="34774" y="-1516"/>
                    <a:pt x="90002" y="0"/>
                  </a:cubicBezTo>
                  <a:cubicBezTo>
                    <a:pt x="262563" y="-27749"/>
                    <a:pt x="455694" y="12990"/>
                    <a:pt x="655360" y="0"/>
                  </a:cubicBezTo>
                  <a:cubicBezTo>
                    <a:pt x="855026" y="-12990"/>
                    <a:pt x="1081738" y="-22816"/>
                    <a:pt x="1309986" y="0"/>
                  </a:cubicBezTo>
                  <a:cubicBezTo>
                    <a:pt x="1538234" y="22816"/>
                    <a:pt x="1706490" y="-21401"/>
                    <a:pt x="1934856" y="0"/>
                  </a:cubicBezTo>
                  <a:cubicBezTo>
                    <a:pt x="2163222" y="21401"/>
                    <a:pt x="2253929" y="25142"/>
                    <a:pt x="2470459" y="0"/>
                  </a:cubicBezTo>
                  <a:cubicBezTo>
                    <a:pt x="2686989" y="-25142"/>
                    <a:pt x="2877320" y="-7189"/>
                    <a:pt x="3065573" y="0"/>
                  </a:cubicBezTo>
                  <a:cubicBezTo>
                    <a:pt x="3120194" y="-6757"/>
                    <a:pt x="3146514" y="46888"/>
                    <a:pt x="3155575" y="90002"/>
                  </a:cubicBezTo>
                  <a:cubicBezTo>
                    <a:pt x="3142256" y="267437"/>
                    <a:pt x="3167305" y="314764"/>
                    <a:pt x="3155575" y="449998"/>
                  </a:cubicBezTo>
                  <a:cubicBezTo>
                    <a:pt x="3157035" y="504084"/>
                    <a:pt x="3118049" y="546801"/>
                    <a:pt x="3065573" y="540000"/>
                  </a:cubicBezTo>
                  <a:cubicBezTo>
                    <a:pt x="2936181" y="559630"/>
                    <a:pt x="2740834" y="547326"/>
                    <a:pt x="2529970" y="540000"/>
                  </a:cubicBezTo>
                  <a:cubicBezTo>
                    <a:pt x="2319106" y="532674"/>
                    <a:pt x="2217432" y="524926"/>
                    <a:pt x="1934856" y="540000"/>
                  </a:cubicBezTo>
                  <a:cubicBezTo>
                    <a:pt x="1652280" y="555074"/>
                    <a:pt x="1530263" y="563773"/>
                    <a:pt x="1429009" y="540000"/>
                  </a:cubicBezTo>
                  <a:cubicBezTo>
                    <a:pt x="1327755" y="516227"/>
                    <a:pt x="968501" y="554403"/>
                    <a:pt x="833895" y="540000"/>
                  </a:cubicBezTo>
                  <a:cubicBezTo>
                    <a:pt x="699289" y="525597"/>
                    <a:pt x="317138" y="527122"/>
                    <a:pt x="90002" y="540000"/>
                  </a:cubicBezTo>
                  <a:cubicBezTo>
                    <a:pt x="32610" y="548858"/>
                    <a:pt x="6362" y="508502"/>
                    <a:pt x="0" y="449998"/>
                  </a:cubicBezTo>
                  <a:cubicBezTo>
                    <a:pt x="10837" y="305006"/>
                    <a:pt x="-12461" y="267144"/>
                    <a:pt x="0" y="90002"/>
                  </a:cubicBezTo>
                  <a:close/>
                </a:path>
              </a:pathLst>
            </a:custGeom>
            <a:grpFill/>
            <a:ln>
              <a:solidFill>
                <a:srgbClr val="002060"/>
              </a:solidFill>
              <a:prstDash val="dash"/>
              <a:extLst>
                <a:ext uri="{C807C97D-BFC1-408E-A445-0C87EB9F89A2}">
                  <ask:lineSketchStyleProps xmlns:ask="http://schemas.microsoft.com/office/drawing/2018/sketchyshapes" sd="51255654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Kotha et al. 2020 </a:t>
              </a:r>
              <a:r>
                <a:rPr lang="en-PT" sz="1400" dirty="0">
                  <a:solidFill>
                    <a:srgbClr val="002060"/>
                  </a:solidFill>
                  <a:latin typeface="Titillium Web" pitchFamily="2" charset="77"/>
                </a:rPr>
                <a:t>(mid-slow)</a:t>
              </a:r>
              <a:endParaRPr lang="en-PT" dirty="0">
                <a:solidFill>
                  <a:srgbClr val="002060"/>
                </a:solidFill>
                <a:latin typeface="Titillium Web" pitchFamily="2" charset="77"/>
              </a:endParaRPr>
            </a:p>
          </p:txBody>
        </p:sp>
        <p:sp>
          <p:nvSpPr>
            <p:cNvPr id="9" name="Rounded Rectangle 8">
              <a:extLst>
                <a:ext uri="{FF2B5EF4-FFF2-40B4-BE49-F238E27FC236}">
                  <a16:creationId xmlns:a16="http://schemas.microsoft.com/office/drawing/2014/main" id="{C9E9B4D3-8FA0-1D27-873A-D7CF949119D6}"/>
                </a:ext>
              </a:extLst>
            </p:cNvPr>
            <p:cNvSpPr/>
            <p:nvPr/>
          </p:nvSpPr>
          <p:spPr>
            <a:xfrm>
              <a:off x="7736539" y="2572959"/>
              <a:ext cx="1640541" cy="540000"/>
            </a:xfrm>
            <a:custGeom>
              <a:avLst/>
              <a:gdLst>
                <a:gd name="csX0" fmla="*/ 0 w 3155575"/>
                <a:gd name="csY0" fmla="*/ 90002 h 540000"/>
                <a:gd name="csX1" fmla="*/ 90002 w 3155575"/>
                <a:gd name="csY1" fmla="*/ 0 h 540000"/>
                <a:gd name="csX2" fmla="*/ 744628 w 3155575"/>
                <a:gd name="csY2" fmla="*/ 0 h 540000"/>
                <a:gd name="csX3" fmla="*/ 1369498 w 3155575"/>
                <a:gd name="csY3" fmla="*/ 0 h 540000"/>
                <a:gd name="csX4" fmla="*/ 1994367 w 3155575"/>
                <a:gd name="csY4" fmla="*/ 0 h 540000"/>
                <a:gd name="csX5" fmla="*/ 2529970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529970 w 3155575"/>
                <a:gd name="csY10" fmla="*/ 540000 h 540000"/>
                <a:gd name="csX11" fmla="*/ 1964612 w 3155575"/>
                <a:gd name="csY11" fmla="*/ 540000 h 540000"/>
                <a:gd name="csX12" fmla="*/ 1429009 w 3155575"/>
                <a:gd name="csY12" fmla="*/ 540000 h 540000"/>
                <a:gd name="csX13" fmla="*/ 774383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10901" y="43006"/>
                    <a:pt x="30702" y="-3099"/>
                    <a:pt x="90002" y="0"/>
                  </a:cubicBezTo>
                  <a:cubicBezTo>
                    <a:pt x="323286" y="23619"/>
                    <a:pt x="452834" y="25475"/>
                    <a:pt x="744628" y="0"/>
                  </a:cubicBezTo>
                  <a:cubicBezTo>
                    <a:pt x="1036422" y="-25475"/>
                    <a:pt x="1241576" y="29481"/>
                    <a:pt x="1369498" y="0"/>
                  </a:cubicBezTo>
                  <a:cubicBezTo>
                    <a:pt x="1497420" y="-29481"/>
                    <a:pt x="1704653" y="5457"/>
                    <a:pt x="1994367" y="0"/>
                  </a:cubicBezTo>
                  <a:cubicBezTo>
                    <a:pt x="2284081" y="-5457"/>
                    <a:pt x="2355093" y="4806"/>
                    <a:pt x="2529970" y="0"/>
                  </a:cubicBezTo>
                  <a:cubicBezTo>
                    <a:pt x="2704847" y="-4806"/>
                    <a:pt x="2861679" y="2763"/>
                    <a:pt x="3065573" y="0"/>
                  </a:cubicBezTo>
                  <a:cubicBezTo>
                    <a:pt x="3116937" y="6564"/>
                    <a:pt x="3156073" y="41359"/>
                    <a:pt x="3155575" y="90002"/>
                  </a:cubicBezTo>
                  <a:cubicBezTo>
                    <a:pt x="3142700" y="204202"/>
                    <a:pt x="3137613" y="359899"/>
                    <a:pt x="3155575" y="449998"/>
                  </a:cubicBezTo>
                  <a:cubicBezTo>
                    <a:pt x="3159115" y="508652"/>
                    <a:pt x="3112257" y="540079"/>
                    <a:pt x="3065573" y="540000"/>
                  </a:cubicBezTo>
                  <a:cubicBezTo>
                    <a:pt x="2939549" y="543796"/>
                    <a:pt x="2654130" y="543704"/>
                    <a:pt x="2529970" y="540000"/>
                  </a:cubicBezTo>
                  <a:cubicBezTo>
                    <a:pt x="2405810" y="536296"/>
                    <a:pt x="2185614" y="529400"/>
                    <a:pt x="1964612" y="540000"/>
                  </a:cubicBezTo>
                  <a:cubicBezTo>
                    <a:pt x="1743610" y="550600"/>
                    <a:pt x="1675398" y="544009"/>
                    <a:pt x="1429009" y="540000"/>
                  </a:cubicBezTo>
                  <a:cubicBezTo>
                    <a:pt x="1182620" y="535991"/>
                    <a:pt x="906985" y="547816"/>
                    <a:pt x="774383" y="540000"/>
                  </a:cubicBezTo>
                  <a:cubicBezTo>
                    <a:pt x="641781" y="532184"/>
                    <a:pt x="384485" y="507972"/>
                    <a:pt x="90002" y="540000"/>
                  </a:cubicBezTo>
                  <a:cubicBezTo>
                    <a:pt x="37797" y="544945"/>
                    <a:pt x="375" y="507833"/>
                    <a:pt x="0" y="449998"/>
                  </a:cubicBezTo>
                  <a:cubicBezTo>
                    <a:pt x="12447" y="276804"/>
                    <a:pt x="17241" y="199332"/>
                    <a:pt x="0" y="90002"/>
                  </a:cubicBezTo>
                  <a:close/>
                </a:path>
                <a:path w="3155575" h="540000" stroke="0" extrusionOk="0">
                  <a:moveTo>
                    <a:pt x="0" y="90002"/>
                  </a:moveTo>
                  <a:cubicBezTo>
                    <a:pt x="5624" y="34794"/>
                    <a:pt x="33914" y="5311"/>
                    <a:pt x="90002" y="0"/>
                  </a:cubicBezTo>
                  <a:cubicBezTo>
                    <a:pt x="216814" y="-19561"/>
                    <a:pt x="396720" y="2644"/>
                    <a:pt x="655360" y="0"/>
                  </a:cubicBezTo>
                  <a:cubicBezTo>
                    <a:pt x="914000" y="-2644"/>
                    <a:pt x="999114" y="26744"/>
                    <a:pt x="1280230" y="0"/>
                  </a:cubicBezTo>
                  <a:cubicBezTo>
                    <a:pt x="1561346" y="-26744"/>
                    <a:pt x="1792595" y="-4654"/>
                    <a:pt x="1934856" y="0"/>
                  </a:cubicBezTo>
                  <a:cubicBezTo>
                    <a:pt x="2077117" y="4654"/>
                    <a:pt x="2202612" y="-12670"/>
                    <a:pt x="2440703" y="0"/>
                  </a:cubicBezTo>
                  <a:cubicBezTo>
                    <a:pt x="2678794" y="12670"/>
                    <a:pt x="2876596" y="18771"/>
                    <a:pt x="3065573" y="0"/>
                  </a:cubicBezTo>
                  <a:cubicBezTo>
                    <a:pt x="3120801" y="4139"/>
                    <a:pt x="3150717" y="45145"/>
                    <a:pt x="3155575" y="90002"/>
                  </a:cubicBezTo>
                  <a:cubicBezTo>
                    <a:pt x="3148457" y="164431"/>
                    <a:pt x="3147003" y="369756"/>
                    <a:pt x="3155575" y="449998"/>
                  </a:cubicBezTo>
                  <a:cubicBezTo>
                    <a:pt x="3159704" y="511195"/>
                    <a:pt x="3120270" y="539914"/>
                    <a:pt x="3065573" y="540000"/>
                  </a:cubicBezTo>
                  <a:cubicBezTo>
                    <a:pt x="2764231" y="561838"/>
                    <a:pt x="2550571" y="563318"/>
                    <a:pt x="2410947" y="540000"/>
                  </a:cubicBezTo>
                  <a:cubicBezTo>
                    <a:pt x="2271323" y="516682"/>
                    <a:pt x="2005521" y="533681"/>
                    <a:pt x="1815833" y="540000"/>
                  </a:cubicBezTo>
                  <a:cubicBezTo>
                    <a:pt x="1626145" y="546319"/>
                    <a:pt x="1465958" y="555691"/>
                    <a:pt x="1250475" y="540000"/>
                  </a:cubicBezTo>
                  <a:cubicBezTo>
                    <a:pt x="1034992" y="524309"/>
                    <a:pt x="894829" y="542057"/>
                    <a:pt x="744628" y="540000"/>
                  </a:cubicBezTo>
                  <a:cubicBezTo>
                    <a:pt x="594427" y="537943"/>
                    <a:pt x="302613" y="555140"/>
                    <a:pt x="90002" y="540000"/>
                  </a:cubicBezTo>
                  <a:cubicBezTo>
                    <a:pt x="43387" y="544733"/>
                    <a:pt x="-6970" y="496715"/>
                    <a:pt x="0" y="449998"/>
                  </a:cubicBezTo>
                  <a:cubicBezTo>
                    <a:pt x="7076" y="350009"/>
                    <a:pt x="9259" y="244462"/>
                    <a:pt x="0" y="90002"/>
                  </a:cubicBezTo>
                  <a:close/>
                </a:path>
              </a:pathLst>
            </a:custGeom>
            <a:grpFill/>
            <a:ln>
              <a:solidFill>
                <a:srgbClr val="002060"/>
              </a:solidFill>
              <a:prstDash val="dash"/>
              <a:extLst>
                <a:ext uri="{C807C97D-BFC1-408E-A445-0C87EB9F89A2}">
                  <ask:lineSketchStyleProps xmlns:ask="http://schemas.microsoft.com/office/drawing/2018/sketchyshapes" sd="1088415105">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Boore et al. 2014</a:t>
              </a:r>
            </a:p>
          </p:txBody>
        </p:sp>
      </p:grpSp>
      <p:cxnSp>
        <p:nvCxnSpPr>
          <p:cNvPr id="11" name="Curved Connector 10">
            <a:extLst>
              <a:ext uri="{FF2B5EF4-FFF2-40B4-BE49-F238E27FC236}">
                <a16:creationId xmlns:a16="http://schemas.microsoft.com/office/drawing/2014/main" id="{5B826BD8-DC10-CD99-8696-E3822548FE45}"/>
              </a:ext>
            </a:extLst>
          </p:cNvPr>
          <p:cNvCxnSpPr>
            <a:cxnSpLocks/>
            <a:stCxn id="2" idx="3"/>
            <a:endCxn id="3" idx="1"/>
          </p:cNvCxnSpPr>
          <p:nvPr/>
        </p:nvCxnSpPr>
        <p:spPr>
          <a:xfrm flipV="1">
            <a:off x="7232271" y="895698"/>
            <a:ext cx="820272" cy="1034142"/>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urved Connector 12">
            <a:extLst>
              <a:ext uri="{FF2B5EF4-FFF2-40B4-BE49-F238E27FC236}">
                <a16:creationId xmlns:a16="http://schemas.microsoft.com/office/drawing/2014/main" id="{B7C2E0C3-A8C0-3C1F-204A-3E8992BC4C6E}"/>
              </a:ext>
            </a:extLst>
          </p:cNvPr>
          <p:cNvCxnSpPr>
            <a:cxnSpLocks/>
            <a:stCxn id="2" idx="3"/>
            <a:endCxn id="4" idx="1"/>
          </p:cNvCxnSpPr>
          <p:nvPr/>
        </p:nvCxnSpPr>
        <p:spPr>
          <a:xfrm flipV="1">
            <a:off x="7232271" y="1585126"/>
            <a:ext cx="820270" cy="344714"/>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urved Connector 15">
            <a:extLst>
              <a:ext uri="{FF2B5EF4-FFF2-40B4-BE49-F238E27FC236}">
                <a16:creationId xmlns:a16="http://schemas.microsoft.com/office/drawing/2014/main" id="{051CC03A-261F-BED2-8055-CCED8FBC1394}"/>
              </a:ext>
            </a:extLst>
          </p:cNvPr>
          <p:cNvCxnSpPr>
            <a:cxnSpLocks/>
            <a:stCxn id="2" idx="3"/>
            <a:endCxn id="6" idx="1"/>
          </p:cNvCxnSpPr>
          <p:nvPr/>
        </p:nvCxnSpPr>
        <p:spPr>
          <a:xfrm>
            <a:off x="7232271" y="1929840"/>
            <a:ext cx="820270" cy="344714"/>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urved Connector 18">
            <a:extLst>
              <a:ext uri="{FF2B5EF4-FFF2-40B4-BE49-F238E27FC236}">
                <a16:creationId xmlns:a16="http://schemas.microsoft.com/office/drawing/2014/main" id="{BDF85B14-BB0F-1AA3-F775-94C580AD5C94}"/>
              </a:ext>
            </a:extLst>
          </p:cNvPr>
          <p:cNvCxnSpPr>
            <a:cxnSpLocks/>
            <a:stCxn id="2" idx="3"/>
            <a:endCxn id="9" idx="1"/>
          </p:cNvCxnSpPr>
          <p:nvPr/>
        </p:nvCxnSpPr>
        <p:spPr>
          <a:xfrm>
            <a:off x="7232271" y="1929840"/>
            <a:ext cx="820268" cy="1034142"/>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1">
            <a:extLst>
              <a:ext uri="{FF2B5EF4-FFF2-40B4-BE49-F238E27FC236}">
                <a16:creationId xmlns:a16="http://schemas.microsoft.com/office/drawing/2014/main" id="{6464EA01-D7B4-6D64-78D5-4682AC158B73}"/>
              </a:ext>
            </a:extLst>
          </p:cNvPr>
          <p:cNvSpPr/>
          <p:nvPr/>
        </p:nvSpPr>
        <p:spPr>
          <a:xfrm>
            <a:off x="5331751" y="4687552"/>
            <a:ext cx="1900517" cy="540000"/>
          </a:xfrm>
          <a:custGeom>
            <a:avLst/>
            <a:gdLst>
              <a:gd name="csX0" fmla="*/ 0 w 1900517"/>
              <a:gd name="csY0" fmla="*/ 90002 h 540000"/>
              <a:gd name="csX1" fmla="*/ 90002 w 1900517"/>
              <a:gd name="csY1" fmla="*/ 0 h 540000"/>
              <a:gd name="csX2" fmla="*/ 680711 w 1900517"/>
              <a:gd name="csY2" fmla="*/ 0 h 540000"/>
              <a:gd name="csX3" fmla="*/ 1254216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19806 w 1900517"/>
              <a:gd name="csY8" fmla="*/ 540000 h 540000"/>
              <a:gd name="csX9" fmla="*/ 697917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603" y="41543"/>
                  <a:pt x="33146" y="-4933"/>
                  <a:pt x="90002" y="0"/>
                </a:cubicBezTo>
                <a:cubicBezTo>
                  <a:pt x="283034" y="3233"/>
                  <a:pt x="390086" y="29445"/>
                  <a:pt x="680711" y="0"/>
                </a:cubicBezTo>
                <a:cubicBezTo>
                  <a:pt x="971336" y="-29445"/>
                  <a:pt x="970393" y="20127"/>
                  <a:pt x="1254216" y="0"/>
                </a:cubicBezTo>
                <a:cubicBezTo>
                  <a:pt x="1538039" y="-20127"/>
                  <a:pt x="1639508" y="-2719"/>
                  <a:pt x="1810515" y="0"/>
                </a:cubicBezTo>
                <a:cubicBezTo>
                  <a:pt x="1848963" y="464"/>
                  <a:pt x="1905223" y="31811"/>
                  <a:pt x="1900517" y="90002"/>
                </a:cubicBezTo>
                <a:cubicBezTo>
                  <a:pt x="1902103" y="206242"/>
                  <a:pt x="1911643" y="301308"/>
                  <a:pt x="1900517" y="449998"/>
                </a:cubicBezTo>
                <a:cubicBezTo>
                  <a:pt x="1905335" y="509244"/>
                  <a:pt x="1855501" y="542489"/>
                  <a:pt x="1810515" y="540000"/>
                </a:cubicBezTo>
                <a:cubicBezTo>
                  <a:pt x="1650478" y="551623"/>
                  <a:pt x="1459965" y="524155"/>
                  <a:pt x="1219806" y="540000"/>
                </a:cubicBezTo>
                <a:cubicBezTo>
                  <a:pt x="979647" y="555845"/>
                  <a:pt x="861666" y="563533"/>
                  <a:pt x="697917" y="540000"/>
                </a:cubicBezTo>
                <a:cubicBezTo>
                  <a:pt x="534168" y="516467"/>
                  <a:pt x="385447" y="521038"/>
                  <a:pt x="90002" y="540000"/>
                </a:cubicBezTo>
                <a:cubicBezTo>
                  <a:pt x="43417" y="541093"/>
                  <a:pt x="1497" y="504749"/>
                  <a:pt x="0" y="449998"/>
                </a:cubicBezTo>
                <a:cubicBezTo>
                  <a:pt x="10345" y="295588"/>
                  <a:pt x="-123" y="200971"/>
                  <a:pt x="0" y="90002"/>
                </a:cubicBezTo>
                <a:close/>
              </a:path>
              <a:path w="1900517" h="540000" stroke="0" extrusionOk="0">
                <a:moveTo>
                  <a:pt x="0" y="90002"/>
                </a:moveTo>
                <a:cubicBezTo>
                  <a:pt x="-9037" y="34721"/>
                  <a:pt x="35995" y="1614"/>
                  <a:pt x="90002" y="0"/>
                </a:cubicBezTo>
                <a:cubicBezTo>
                  <a:pt x="219763" y="-21702"/>
                  <a:pt x="487792" y="24698"/>
                  <a:pt x="697917" y="0"/>
                </a:cubicBezTo>
                <a:cubicBezTo>
                  <a:pt x="908043" y="-24698"/>
                  <a:pt x="1045868" y="12713"/>
                  <a:pt x="1254216" y="0"/>
                </a:cubicBezTo>
                <a:cubicBezTo>
                  <a:pt x="1462564" y="-12713"/>
                  <a:pt x="1541174" y="20842"/>
                  <a:pt x="1810515" y="0"/>
                </a:cubicBezTo>
                <a:cubicBezTo>
                  <a:pt x="1858408" y="-5842"/>
                  <a:pt x="1902763" y="31985"/>
                  <a:pt x="1900517" y="90002"/>
                </a:cubicBezTo>
                <a:cubicBezTo>
                  <a:pt x="1914497" y="164508"/>
                  <a:pt x="1899017" y="283030"/>
                  <a:pt x="1900517" y="449998"/>
                </a:cubicBezTo>
                <a:cubicBezTo>
                  <a:pt x="1899830" y="493152"/>
                  <a:pt x="1853076" y="549931"/>
                  <a:pt x="1810515" y="540000"/>
                </a:cubicBezTo>
                <a:cubicBezTo>
                  <a:pt x="1567553" y="524027"/>
                  <a:pt x="1393910" y="545331"/>
                  <a:pt x="1271421" y="540000"/>
                </a:cubicBezTo>
                <a:cubicBezTo>
                  <a:pt x="1148932" y="534669"/>
                  <a:pt x="822531" y="559426"/>
                  <a:pt x="697917" y="540000"/>
                </a:cubicBezTo>
                <a:cubicBezTo>
                  <a:pt x="573303" y="520574"/>
                  <a:pt x="253301" y="550202"/>
                  <a:pt x="90002" y="540000"/>
                </a:cubicBezTo>
                <a:cubicBezTo>
                  <a:pt x="47510" y="532870"/>
                  <a:pt x="3274" y="497594"/>
                  <a:pt x="0" y="449998"/>
                </a:cubicBezTo>
                <a:cubicBezTo>
                  <a:pt x="2024" y="275979"/>
                  <a:pt x="-7437" y="162155"/>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Offshore events</a:t>
            </a:r>
          </a:p>
        </p:txBody>
      </p:sp>
      <p:grpSp>
        <p:nvGrpSpPr>
          <p:cNvPr id="23" name="Group 22">
            <a:extLst>
              <a:ext uri="{FF2B5EF4-FFF2-40B4-BE49-F238E27FC236}">
                <a16:creationId xmlns:a16="http://schemas.microsoft.com/office/drawing/2014/main" id="{08C98EE3-7299-740A-0E77-8D94A3908BF2}"/>
              </a:ext>
            </a:extLst>
          </p:cNvPr>
          <p:cNvGrpSpPr/>
          <p:nvPr/>
        </p:nvGrpSpPr>
        <p:grpSpPr>
          <a:xfrm>
            <a:off x="8052536" y="3653410"/>
            <a:ext cx="3155575" cy="2608284"/>
            <a:chOff x="7736539" y="504675"/>
            <a:chExt cx="1640543" cy="2608284"/>
          </a:xfrm>
          <a:solidFill>
            <a:schemeClr val="accent4">
              <a:lumMod val="20000"/>
              <a:lumOff val="80000"/>
            </a:schemeClr>
          </a:solidFill>
        </p:grpSpPr>
        <p:sp>
          <p:nvSpPr>
            <p:cNvPr id="24" name="Rounded Rectangle 23">
              <a:extLst>
                <a:ext uri="{FF2B5EF4-FFF2-40B4-BE49-F238E27FC236}">
                  <a16:creationId xmlns:a16="http://schemas.microsoft.com/office/drawing/2014/main" id="{9448C6B7-4B30-4AEA-E4BD-FC9CDF051ABC}"/>
                </a:ext>
              </a:extLst>
            </p:cNvPr>
            <p:cNvSpPr/>
            <p:nvPr/>
          </p:nvSpPr>
          <p:spPr>
            <a:xfrm>
              <a:off x="7736541" y="504675"/>
              <a:ext cx="1640541" cy="540000"/>
            </a:xfrm>
            <a:custGeom>
              <a:avLst/>
              <a:gdLst>
                <a:gd name="csX0" fmla="*/ 0 w 3155571"/>
                <a:gd name="csY0" fmla="*/ 90002 h 540000"/>
                <a:gd name="csX1" fmla="*/ 90002 w 3155571"/>
                <a:gd name="csY1" fmla="*/ 0 h 540000"/>
                <a:gd name="csX2" fmla="*/ 625604 w 3155571"/>
                <a:gd name="csY2" fmla="*/ 0 h 540000"/>
                <a:gd name="csX3" fmla="*/ 1220717 w 3155571"/>
                <a:gd name="csY3" fmla="*/ 0 h 540000"/>
                <a:gd name="csX4" fmla="*/ 1756320 w 3155571"/>
                <a:gd name="csY4" fmla="*/ 0 h 540000"/>
                <a:gd name="csX5" fmla="*/ 2351433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500211 w 3155571"/>
                <a:gd name="csY10" fmla="*/ 540000 h 540000"/>
                <a:gd name="csX11" fmla="*/ 1994365 w 3155571"/>
                <a:gd name="csY11" fmla="*/ 540000 h 540000"/>
                <a:gd name="csX12" fmla="*/ 1369496 w 3155571"/>
                <a:gd name="csY12" fmla="*/ 540000 h 540000"/>
                <a:gd name="csX13" fmla="*/ 833894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620" y="41404"/>
                    <a:pt x="42369" y="1541"/>
                    <a:pt x="90002" y="0"/>
                  </a:cubicBezTo>
                  <a:cubicBezTo>
                    <a:pt x="223989" y="1661"/>
                    <a:pt x="484767" y="6480"/>
                    <a:pt x="625604" y="0"/>
                  </a:cubicBezTo>
                  <a:cubicBezTo>
                    <a:pt x="766441" y="-6480"/>
                    <a:pt x="1014499" y="-7204"/>
                    <a:pt x="1220717" y="0"/>
                  </a:cubicBezTo>
                  <a:cubicBezTo>
                    <a:pt x="1426935" y="7204"/>
                    <a:pt x="1642024" y="-14423"/>
                    <a:pt x="1756320" y="0"/>
                  </a:cubicBezTo>
                  <a:cubicBezTo>
                    <a:pt x="1870616" y="14423"/>
                    <a:pt x="2187364" y="-15181"/>
                    <a:pt x="2351433" y="0"/>
                  </a:cubicBezTo>
                  <a:cubicBezTo>
                    <a:pt x="2515502" y="15181"/>
                    <a:pt x="2902673" y="-13819"/>
                    <a:pt x="3065569" y="0"/>
                  </a:cubicBezTo>
                  <a:cubicBezTo>
                    <a:pt x="3117702" y="-7462"/>
                    <a:pt x="3156547" y="41350"/>
                    <a:pt x="3155571" y="90002"/>
                  </a:cubicBezTo>
                  <a:cubicBezTo>
                    <a:pt x="3160814" y="179923"/>
                    <a:pt x="3166453" y="376404"/>
                    <a:pt x="3155571" y="449998"/>
                  </a:cubicBezTo>
                  <a:cubicBezTo>
                    <a:pt x="3155168" y="491350"/>
                    <a:pt x="3117210" y="541218"/>
                    <a:pt x="3065569" y="540000"/>
                  </a:cubicBezTo>
                  <a:cubicBezTo>
                    <a:pt x="2858706" y="543446"/>
                    <a:pt x="2701238" y="528015"/>
                    <a:pt x="2500211" y="540000"/>
                  </a:cubicBezTo>
                  <a:cubicBezTo>
                    <a:pt x="2299184" y="551985"/>
                    <a:pt x="2183146" y="551799"/>
                    <a:pt x="1994365" y="540000"/>
                  </a:cubicBezTo>
                  <a:cubicBezTo>
                    <a:pt x="1805584" y="528201"/>
                    <a:pt x="1572353" y="535880"/>
                    <a:pt x="1369496" y="540000"/>
                  </a:cubicBezTo>
                  <a:cubicBezTo>
                    <a:pt x="1166639" y="544120"/>
                    <a:pt x="1088826" y="535335"/>
                    <a:pt x="833894" y="540000"/>
                  </a:cubicBezTo>
                  <a:cubicBezTo>
                    <a:pt x="578962" y="544665"/>
                    <a:pt x="401292" y="536687"/>
                    <a:pt x="90002" y="540000"/>
                  </a:cubicBezTo>
                  <a:cubicBezTo>
                    <a:pt x="42276" y="531356"/>
                    <a:pt x="-6533" y="499494"/>
                    <a:pt x="0" y="449998"/>
                  </a:cubicBezTo>
                  <a:cubicBezTo>
                    <a:pt x="-2774" y="358857"/>
                    <a:pt x="15469" y="180620"/>
                    <a:pt x="0" y="90002"/>
                  </a:cubicBezTo>
                  <a:close/>
                </a:path>
                <a:path w="3155571" h="540000" stroke="0" extrusionOk="0">
                  <a:moveTo>
                    <a:pt x="0" y="90002"/>
                  </a:moveTo>
                  <a:cubicBezTo>
                    <a:pt x="-9037" y="34721"/>
                    <a:pt x="35995" y="1614"/>
                    <a:pt x="90002" y="0"/>
                  </a:cubicBezTo>
                  <a:cubicBezTo>
                    <a:pt x="367811" y="-23588"/>
                    <a:pt x="521729" y="1005"/>
                    <a:pt x="744627" y="0"/>
                  </a:cubicBezTo>
                  <a:cubicBezTo>
                    <a:pt x="967525" y="-1005"/>
                    <a:pt x="1111997" y="-11893"/>
                    <a:pt x="1309984" y="0"/>
                  </a:cubicBezTo>
                  <a:cubicBezTo>
                    <a:pt x="1507971" y="11893"/>
                    <a:pt x="1662593" y="23350"/>
                    <a:pt x="1845587" y="0"/>
                  </a:cubicBezTo>
                  <a:cubicBezTo>
                    <a:pt x="2028581" y="-23350"/>
                    <a:pt x="2228962" y="6615"/>
                    <a:pt x="2470456" y="0"/>
                  </a:cubicBezTo>
                  <a:cubicBezTo>
                    <a:pt x="2711950" y="-6615"/>
                    <a:pt x="2886448" y="-29131"/>
                    <a:pt x="3065569" y="0"/>
                  </a:cubicBezTo>
                  <a:cubicBezTo>
                    <a:pt x="3120916" y="-9178"/>
                    <a:pt x="3151534" y="43842"/>
                    <a:pt x="3155571" y="90002"/>
                  </a:cubicBezTo>
                  <a:cubicBezTo>
                    <a:pt x="3161409" y="175369"/>
                    <a:pt x="3165517" y="305738"/>
                    <a:pt x="3155571" y="449998"/>
                  </a:cubicBezTo>
                  <a:cubicBezTo>
                    <a:pt x="3162892" y="501465"/>
                    <a:pt x="3104796" y="538305"/>
                    <a:pt x="3065569" y="540000"/>
                  </a:cubicBezTo>
                  <a:cubicBezTo>
                    <a:pt x="2866141" y="557867"/>
                    <a:pt x="2721738" y="527744"/>
                    <a:pt x="2470456" y="540000"/>
                  </a:cubicBezTo>
                  <a:cubicBezTo>
                    <a:pt x="2219174" y="552256"/>
                    <a:pt x="2088762" y="513170"/>
                    <a:pt x="1905098" y="540000"/>
                  </a:cubicBezTo>
                  <a:cubicBezTo>
                    <a:pt x="1721434" y="566830"/>
                    <a:pt x="1416084" y="513017"/>
                    <a:pt x="1250473" y="540000"/>
                  </a:cubicBezTo>
                  <a:cubicBezTo>
                    <a:pt x="1084862" y="566983"/>
                    <a:pt x="828237" y="524510"/>
                    <a:pt x="595848" y="540000"/>
                  </a:cubicBezTo>
                  <a:cubicBezTo>
                    <a:pt x="363460" y="555490"/>
                    <a:pt x="323523" y="562400"/>
                    <a:pt x="90002" y="540000"/>
                  </a:cubicBezTo>
                  <a:cubicBezTo>
                    <a:pt x="38717" y="538513"/>
                    <a:pt x="-1301" y="497760"/>
                    <a:pt x="0" y="449998"/>
                  </a:cubicBezTo>
                  <a:cubicBezTo>
                    <a:pt x="9177" y="311553"/>
                    <a:pt x="9700" y="186893"/>
                    <a:pt x="0" y="90002"/>
                  </a:cubicBezTo>
                  <a:close/>
                </a:path>
              </a:pathLst>
            </a:custGeom>
            <a:grp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Morgado et al. 2026 </a:t>
              </a:r>
              <a:r>
                <a:rPr lang="en-PT" sz="1200" dirty="0">
                  <a:solidFill>
                    <a:srgbClr val="002060"/>
                  </a:solidFill>
                  <a:latin typeface="Titillium Web" pitchFamily="2" charset="77"/>
                </a:rPr>
                <a:t>(offshore)</a:t>
              </a:r>
              <a:endParaRPr lang="en-PT" dirty="0">
                <a:solidFill>
                  <a:srgbClr val="002060"/>
                </a:solidFill>
                <a:latin typeface="Titillium Web" pitchFamily="2" charset="77"/>
              </a:endParaRPr>
            </a:p>
          </p:txBody>
        </p:sp>
        <p:sp>
          <p:nvSpPr>
            <p:cNvPr id="25" name="Rounded Rectangle 24">
              <a:extLst>
                <a:ext uri="{FF2B5EF4-FFF2-40B4-BE49-F238E27FC236}">
                  <a16:creationId xmlns:a16="http://schemas.microsoft.com/office/drawing/2014/main" id="{85793B61-1F9F-F2C9-76F4-A1B3527389DE}"/>
                </a:ext>
              </a:extLst>
            </p:cNvPr>
            <p:cNvSpPr/>
            <p:nvPr/>
          </p:nvSpPr>
          <p:spPr>
            <a:xfrm>
              <a:off x="7736540" y="1194103"/>
              <a:ext cx="1640541" cy="540000"/>
            </a:xfrm>
            <a:custGeom>
              <a:avLst/>
              <a:gdLst>
                <a:gd name="csX0" fmla="*/ 0 w 3155571"/>
                <a:gd name="csY0" fmla="*/ 90002 h 540000"/>
                <a:gd name="csX1" fmla="*/ 90002 w 3155571"/>
                <a:gd name="csY1" fmla="*/ 0 h 540000"/>
                <a:gd name="csX2" fmla="*/ 714871 w 3155571"/>
                <a:gd name="csY2" fmla="*/ 0 h 540000"/>
                <a:gd name="csX3" fmla="*/ 1309984 w 3155571"/>
                <a:gd name="csY3" fmla="*/ 0 h 540000"/>
                <a:gd name="csX4" fmla="*/ 1815831 w 3155571"/>
                <a:gd name="csY4" fmla="*/ 0 h 540000"/>
                <a:gd name="csX5" fmla="*/ 2410944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470456 w 3155571"/>
                <a:gd name="csY10" fmla="*/ 540000 h 540000"/>
                <a:gd name="csX11" fmla="*/ 1845587 w 3155571"/>
                <a:gd name="csY11" fmla="*/ 540000 h 540000"/>
                <a:gd name="csX12" fmla="*/ 1250473 w 3155571"/>
                <a:gd name="csY12" fmla="*/ 540000 h 540000"/>
                <a:gd name="csX13" fmla="*/ 90002 w 3155571"/>
                <a:gd name="csY13" fmla="*/ 540000 h 540000"/>
                <a:gd name="csX14" fmla="*/ 0 w 3155571"/>
                <a:gd name="csY14" fmla="*/ 449998 h 540000"/>
                <a:gd name="csX15" fmla="*/ 0 w 3155571"/>
                <a:gd name="csY15"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Lst>
              <a:rect l="l" t="t" r="r" b="b"/>
              <a:pathLst>
                <a:path w="3155571" h="540000" fill="none" extrusionOk="0">
                  <a:moveTo>
                    <a:pt x="0" y="90002"/>
                  </a:moveTo>
                  <a:cubicBezTo>
                    <a:pt x="1922" y="41335"/>
                    <a:pt x="35543" y="1911"/>
                    <a:pt x="90002" y="0"/>
                  </a:cubicBezTo>
                  <a:cubicBezTo>
                    <a:pt x="308311" y="15826"/>
                    <a:pt x="409497" y="9084"/>
                    <a:pt x="714871" y="0"/>
                  </a:cubicBezTo>
                  <a:cubicBezTo>
                    <a:pt x="1020245" y="-9084"/>
                    <a:pt x="1076756" y="28459"/>
                    <a:pt x="1309984" y="0"/>
                  </a:cubicBezTo>
                  <a:cubicBezTo>
                    <a:pt x="1543212" y="-28459"/>
                    <a:pt x="1669594" y="23811"/>
                    <a:pt x="1815831" y="0"/>
                  </a:cubicBezTo>
                  <a:cubicBezTo>
                    <a:pt x="1962068" y="-23811"/>
                    <a:pt x="2153283" y="-27604"/>
                    <a:pt x="2410944" y="0"/>
                  </a:cubicBezTo>
                  <a:cubicBezTo>
                    <a:pt x="2668605" y="27604"/>
                    <a:pt x="2770506" y="-21737"/>
                    <a:pt x="3065569" y="0"/>
                  </a:cubicBezTo>
                  <a:cubicBezTo>
                    <a:pt x="3118499" y="4181"/>
                    <a:pt x="3164330" y="38444"/>
                    <a:pt x="3155571" y="90002"/>
                  </a:cubicBezTo>
                  <a:cubicBezTo>
                    <a:pt x="3147865" y="194946"/>
                    <a:pt x="3170557" y="335901"/>
                    <a:pt x="3155571" y="449998"/>
                  </a:cubicBezTo>
                  <a:cubicBezTo>
                    <a:pt x="3155096" y="501253"/>
                    <a:pt x="3114505" y="543478"/>
                    <a:pt x="3065569" y="540000"/>
                  </a:cubicBezTo>
                  <a:cubicBezTo>
                    <a:pt x="2911702" y="511980"/>
                    <a:pt x="2641673" y="518129"/>
                    <a:pt x="2470456" y="540000"/>
                  </a:cubicBezTo>
                  <a:cubicBezTo>
                    <a:pt x="2299239" y="561871"/>
                    <a:pt x="2008737" y="540881"/>
                    <a:pt x="1845587" y="540000"/>
                  </a:cubicBezTo>
                  <a:cubicBezTo>
                    <a:pt x="1682437" y="539119"/>
                    <a:pt x="1386302" y="561886"/>
                    <a:pt x="1250473" y="540000"/>
                  </a:cubicBezTo>
                  <a:cubicBezTo>
                    <a:pt x="1114644" y="518114"/>
                    <a:pt x="451472" y="558695"/>
                    <a:pt x="90002" y="540000"/>
                  </a:cubicBezTo>
                  <a:cubicBezTo>
                    <a:pt x="39682" y="548600"/>
                    <a:pt x="-7938" y="508249"/>
                    <a:pt x="0" y="449998"/>
                  </a:cubicBezTo>
                  <a:cubicBezTo>
                    <a:pt x="10292" y="338017"/>
                    <a:pt x="-8362" y="240595"/>
                    <a:pt x="0" y="90002"/>
                  </a:cubicBezTo>
                  <a:close/>
                </a:path>
                <a:path w="3155571" h="540000" stroke="0" extrusionOk="0">
                  <a:moveTo>
                    <a:pt x="0" y="90002"/>
                  </a:moveTo>
                  <a:cubicBezTo>
                    <a:pt x="-5043" y="48919"/>
                    <a:pt x="49782" y="-6416"/>
                    <a:pt x="90002" y="0"/>
                  </a:cubicBezTo>
                  <a:cubicBezTo>
                    <a:pt x="304250" y="29087"/>
                    <a:pt x="515898" y="24212"/>
                    <a:pt x="714871" y="0"/>
                  </a:cubicBezTo>
                  <a:cubicBezTo>
                    <a:pt x="913844" y="-24212"/>
                    <a:pt x="1060550" y="810"/>
                    <a:pt x="1309984" y="0"/>
                  </a:cubicBezTo>
                  <a:cubicBezTo>
                    <a:pt x="1559418" y="-810"/>
                    <a:pt x="1707277" y="3867"/>
                    <a:pt x="1905098" y="0"/>
                  </a:cubicBezTo>
                  <a:cubicBezTo>
                    <a:pt x="2102919" y="-3867"/>
                    <a:pt x="2323121" y="26049"/>
                    <a:pt x="2500211" y="0"/>
                  </a:cubicBezTo>
                  <a:cubicBezTo>
                    <a:pt x="2677301" y="-26049"/>
                    <a:pt x="2811299" y="21713"/>
                    <a:pt x="3065569" y="0"/>
                  </a:cubicBezTo>
                  <a:cubicBezTo>
                    <a:pt x="3123604" y="-1893"/>
                    <a:pt x="3154110" y="37186"/>
                    <a:pt x="3155571" y="90002"/>
                  </a:cubicBezTo>
                  <a:cubicBezTo>
                    <a:pt x="3155728" y="235591"/>
                    <a:pt x="3150038" y="270068"/>
                    <a:pt x="3155571" y="449998"/>
                  </a:cubicBezTo>
                  <a:cubicBezTo>
                    <a:pt x="3146637" y="502293"/>
                    <a:pt x="3115599" y="537340"/>
                    <a:pt x="3065569" y="540000"/>
                  </a:cubicBezTo>
                  <a:cubicBezTo>
                    <a:pt x="2786698" y="543104"/>
                    <a:pt x="2734151" y="520037"/>
                    <a:pt x="2500211" y="540000"/>
                  </a:cubicBezTo>
                  <a:cubicBezTo>
                    <a:pt x="2266271" y="559963"/>
                    <a:pt x="2083181" y="525126"/>
                    <a:pt x="1875342" y="540000"/>
                  </a:cubicBezTo>
                  <a:cubicBezTo>
                    <a:pt x="1667503" y="554874"/>
                    <a:pt x="1440278" y="531685"/>
                    <a:pt x="1220717" y="540000"/>
                  </a:cubicBezTo>
                  <a:cubicBezTo>
                    <a:pt x="1001156" y="548315"/>
                    <a:pt x="860537" y="539440"/>
                    <a:pt x="685115" y="540000"/>
                  </a:cubicBezTo>
                  <a:cubicBezTo>
                    <a:pt x="509693" y="540560"/>
                    <a:pt x="305642" y="546022"/>
                    <a:pt x="90002" y="540000"/>
                  </a:cubicBezTo>
                  <a:cubicBezTo>
                    <a:pt x="44227" y="538355"/>
                    <a:pt x="-9366" y="497901"/>
                    <a:pt x="0" y="449998"/>
                  </a:cubicBezTo>
                  <a:cubicBezTo>
                    <a:pt x="12936" y="337821"/>
                    <a:pt x="2750" y="166490"/>
                    <a:pt x="0" y="90002"/>
                  </a:cubicBezTo>
                  <a:close/>
                </a:path>
              </a:pathLst>
            </a:custGeom>
            <a:grpFill/>
            <a:ln>
              <a:solidFill>
                <a:srgbClr val="002060"/>
              </a:solidFill>
              <a:extLst>
                <a:ext uri="{C807C97D-BFC1-408E-A445-0C87EB9F89A2}">
                  <ask:lineSketchStyleProps xmlns:ask="http://schemas.microsoft.com/office/drawing/2018/sketchyshapes" sd="2842418190">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Taherin et al. 2025 </a:t>
              </a:r>
              <a:r>
                <a:rPr lang="en-PT" sz="1200" dirty="0">
                  <a:solidFill>
                    <a:srgbClr val="002060"/>
                  </a:solidFill>
                  <a:latin typeface="Titillium Web" pitchFamily="2" charset="77"/>
                </a:rPr>
                <a:t>(offshore)</a:t>
              </a:r>
              <a:endParaRPr lang="en-PT" dirty="0">
                <a:solidFill>
                  <a:srgbClr val="002060"/>
                </a:solidFill>
                <a:latin typeface="Titillium Web" pitchFamily="2" charset="77"/>
              </a:endParaRPr>
            </a:p>
          </p:txBody>
        </p:sp>
        <p:sp>
          <p:nvSpPr>
            <p:cNvPr id="26" name="Rounded Rectangle 25">
              <a:extLst>
                <a:ext uri="{FF2B5EF4-FFF2-40B4-BE49-F238E27FC236}">
                  <a16:creationId xmlns:a16="http://schemas.microsoft.com/office/drawing/2014/main" id="{D4708353-FB2B-2732-3127-F604B270E541}"/>
                </a:ext>
              </a:extLst>
            </p:cNvPr>
            <p:cNvSpPr/>
            <p:nvPr/>
          </p:nvSpPr>
          <p:spPr>
            <a:xfrm>
              <a:off x="7736540" y="1883531"/>
              <a:ext cx="1640541" cy="540000"/>
            </a:xfrm>
            <a:custGeom>
              <a:avLst/>
              <a:gdLst>
                <a:gd name="csX0" fmla="*/ 0 w 3155571"/>
                <a:gd name="csY0" fmla="*/ 90002 h 540000"/>
                <a:gd name="csX1" fmla="*/ 90002 w 3155571"/>
                <a:gd name="csY1" fmla="*/ 0 h 540000"/>
                <a:gd name="csX2" fmla="*/ 625604 w 3155571"/>
                <a:gd name="csY2" fmla="*/ 0 h 540000"/>
                <a:gd name="csX3" fmla="*/ 1190962 w 3155571"/>
                <a:gd name="csY3" fmla="*/ 0 h 540000"/>
                <a:gd name="csX4" fmla="*/ 1756320 w 3155571"/>
                <a:gd name="csY4" fmla="*/ 0 h 540000"/>
                <a:gd name="csX5" fmla="*/ 2410944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470456 w 3155571"/>
                <a:gd name="csY10" fmla="*/ 540000 h 540000"/>
                <a:gd name="csX11" fmla="*/ 1905098 w 3155571"/>
                <a:gd name="csY11" fmla="*/ 540000 h 540000"/>
                <a:gd name="csX12" fmla="*/ 1339740 w 3155571"/>
                <a:gd name="csY12" fmla="*/ 540000 h 540000"/>
                <a:gd name="csX13" fmla="*/ 744627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1196" y="40344"/>
                    <a:pt x="39568" y="2403"/>
                    <a:pt x="90002" y="0"/>
                  </a:cubicBezTo>
                  <a:cubicBezTo>
                    <a:pt x="203585" y="-6628"/>
                    <a:pt x="420693" y="-4457"/>
                    <a:pt x="625604" y="0"/>
                  </a:cubicBezTo>
                  <a:cubicBezTo>
                    <a:pt x="830515" y="4457"/>
                    <a:pt x="946896" y="9907"/>
                    <a:pt x="1190962" y="0"/>
                  </a:cubicBezTo>
                  <a:cubicBezTo>
                    <a:pt x="1435028" y="-9907"/>
                    <a:pt x="1620715" y="-7992"/>
                    <a:pt x="1756320" y="0"/>
                  </a:cubicBezTo>
                  <a:cubicBezTo>
                    <a:pt x="1891925" y="7992"/>
                    <a:pt x="2179496" y="17519"/>
                    <a:pt x="2410944" y="0"/>
                  </a:cubicBezTo>
                  <a:cubicBezTo>
                    <a:pt x="2642392" y="-17519"/>
                    <a:pt x="2886248" y="18502"/>
                    <a:pt x="3065569" y="0"/>
                  </a:cubicBezTo>
                  <a:cubicBezTo>
                    <a:pt x="3113148" y="319"/>
                    <a:pt x="3156564" y="45816"/>
                    <a:pt x="3155571" y="90002"/>
                  </a:cubicBezTo>
                  <a:cubicBezTo>
                    <a:pt x="3168937" y="264550"/>
                    <a:pt x="3160882" y="341727"/>
                    <a:pt x="3155571" y="449998"/>
                  </a:cubicBezTo>
                  <a:cubicBezTo>
                    <a:pt x="3152678" y="500234"/>
                    <a:pt x="3119639" y="545873"/>
                    <a:pt x="3065569" y="540000"/>
                  </a:cubicBezTo>
                  <a:cubicBezTo>
                    <a:pt x="2807134" y="526181"/>
                    <a:pt x="2603295" y="559996"/>
                    <a:pt x="2470456" y="540000"/>
                  </a:cubicBezTo>
                  <a:cubicBezTo>
                    <a:pt x="2337617" y="520004"/>
                    <a:pt x="2050730" y="528107"/>
                    <a:pt x="1905098" y="540000"/>
                  </a:cubicBezTo>
                  <a:cubicBezTo>
                    <a:pt x="1759466" y="551893"/>
                    <a:pt x="1531909" y="512760"/>
                    <a:pt x="1339740" y="540000"/>
                  </a:cubicBezTo>
                  <a:cubicBezTo>
                    <a:pt x="1147571" y="567240"/>
                    <a:pt x="868515" y="537841"/>
                    <a:pt x="744627" y="540000"/>
                  </a:cubicBezTo>
                  <a:cubicBezTo>
                    <a:pt x="620739" y="542159"/>
                    <a:pt x="415210" y="555698"/>
                    <a:pt x="90002" y="540000"/>
                  </a:cubicBezTo>
                  <a:cubicBezTo>
                    <a:pt x="33552" y="546657"/>
                    <a:pt x="7847" y="508532"/>
                    <a:pt x="0" y="449998"/>
                  </a:cubicBezTo>
                  <a:cubicBezTo>
                    <a:pt x="-13099" y="337104"/>
                    <a:pt x="13503" y="256448"/>
                    <a:pt x="0" y="90002"/>
                  </a:cubicBezTo>
                  <a:close/>
                </a:path>
                <a:path w="3155571" h="540000" stroke="0" extrusionOk="0">
                  <a:moveTo>
                    <a:pt x="0" y="90002"/>
                  </a:moveTo>
                  <a:cubicBezTo>
                    <a:pt x="975" y="51669"/>
                    <a:pt x="34774" y="-1516"/>
                    <a:pt x="90002" y="0"/>
                  </a:cubicBezTo>
                  <a:cubicBezTo>
                    <a:pt x="262563" y="-27749"/>
                    <a:pt x="455694" y="12990"/>
                    <a:pt x="655360" y="0"/>
                  </a:cubicBezTo>
                  <a:cubicBezTo>
                    <a:pt x="855026" y="-12990"/>
                    <a:pt x="1082000" y="-12009"/>
                    <a:pt x="1309984" y="0"/>
                  </a:cubicBezTo>
                  <a:cubicBezTo>
                    <a:pt x="1537968" y="12009"/>
                    <a:pt x="1706488" y="-21401"/>
                    <a:pt x="1934854" y="0"/>
                  </a:cubicBezTo>
                  <a:cubicBezTo>
                    <a:pt x="2163220" y="21401"/>
                    <a:pt x="2256578" y="-21483"/>
                    <a:pt x="2470456" y="0"/>
                  </a:cubicBezTo>
                  <a:cubicBezTo>
                    <a:pt x="2684334" y="21483"/>
                    <a:pt x="2884467" y="-3100"/>
                    <a:pt x="3065569" y="0"/>
                  </a:cubicBezTo>
                  <a:cubicBezTo>
                    <a:pt x="3120190" y="-6757"/>
                    <a:pt x="3146510" y="46888"/>
                    <a:pt x="3155571" y="90002"/>
                  </a:cubicBezTo>
                  <a:cubicBezTo>
                    <a:pt x="3142252" y="267437"/>
                    <a:pt x="3167301" y="314764"/>
                    <a:pt x="3155571" y="449998"/>
                  </a:cubicBezTo>
                  <a:cubicBezTo>
                    <a:pt x="3157031" y="504084"/>
                    <a:pt x="3118045" y="546801"/>
                    <a:pt x="3065569" y="540000"/>
                  </a:cubicBezTo>
                  <a:cubicBezTo>
                    <a:pt x="2930084" y="554781"/>
                    <a:pt x="2738274" y="545055"/>
                    <a:pt x="2529967" y="540000"/>
                  </a:cubicBezTo>
                  <a:cubicBezTo>
                    <a:pt x="2321660" y="534945"/>
                    <a:pt x="2215514" y="519747"/>
                    <a:pt x="1934854" y="540000"/>
                  </a:cubicBezTo>
                  <a:cubicBezTo>
                    <a:pt x="1654194" y="560253"/>
                    <a:pt x="1530261" y="563773"/>
                    <a:pt x="1429007" y="540000"/>
                  </a:cubicBezTo>
                  <a:cubicBezTo>
                    <a:pt x="1327753" y="516227"/>
                    <a:pt x="967991" y="550598"/>
                    <a:pt x="833894" y="540000"/>
                  </a:cubicBezTo>
                  <a:cubicBezTo>
                    <a:pt x="699797" y="529402"/>
                    <a:pt x="316310" y="527115"/>
                    <a:pt x="90002" y="540000"/>
                  </a:cubicBezTo>
                  <a:cubicBezTo>
                    <a:pt x="32610" y="548858"/>
                    <a:pt x="6362" y="508502"/>
                    <a:pt x="0" y="449998"/>
                  </a:cubicBezTo>
                  <a:cubicBezTo>
                    <a:pt x="10837" y="305006"/>
                    <a:pt x="-12461" y="267144"/>
                    <a:pt x="0" y="90002"/>
                  </a:cubicBezTo>
                  <a:close/>
                </a:path>
              </a:pathLst>
            </a:custGeom>
            <a:grpFill/>
            <a:ln>
              <a:solidFill>
                <a:srgbClr val="002060"/>
              </a:solidFill>
              <a:prstDash val="dash"/>
              <a:extLst>
                <a:ext uri="{C807C97D-BFC1-408E-A445-0C87EB9F89A2}">
                  <ask:lineSketchStyleProps xmlns:ask="http://schemas.microsoft.com/office/drawing/2018/sketchyshapes" sd="512556544">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Kotha et al. 2020 </a:t>
              </a:r>
              <a:r>
                <a:rPr lang="en-PT" sz="1200" dirty="0">
                  <a:solidFill>
                    <a:srgbClr val="002060"/>
                  </a:solidFill>
                  <a:latin typeface="Titillium Web" pitchFamily="2" charset="77"/>
                </a:rPr>
                <a:t>(high-slow)</a:t>
              </a:r>
            </a:p>
          </p:txBody>
        </p:sp>
        <p:sp>
          <p:nvSpPr>
            <p:cNvPr id="27" name="Rounded Rectangle 26">
              <a:extLst>
                <a:ext uri="{FF2B5EF4-FFF2-40B4-BE49-F238E27FC236}">
                  <a16:creationId xmlns:a16="http://schemas.microsoft.com/office/drawing/2014/main" id="{04D69BD5-7D1D-0DEB-0D51-07DC49CF90ED}"/>
                </a:ext>
              </a:extLst>
            </p:cNvPr>
            <p:cNvSpPr/>
            <p:nvPr/>
          </p:nvSpPr>
          <p:spPr>
            <a:xfrm>
              <a:off x="7736539" y="2572959"/>
              <a:ext cx="1640541" cy="540000"/>
            </a:xfrm>
            <a:custGeom>
              <a:avLst/>
              <a:gdLst>
                <a:gd name="csX0" fmla="*/ 0 w 3155571"/>
                <a:gd name="csY0" fmla="*/ 90002 h 540000"/>
                <a:gd name="csX1" fmla="*/ 90002 w 3155571"/>
                <a:gd name="csY1" fmla="*/ 0 h 540000"/>
                <a:gd name="csX2" fmla="*/ 744627 w 3155571"/>
                <a:gd name="csY2" fmla="*/ 0 h 540000"/>
                <a:gd name="csX3" fmla="*/ 1369496 w 3155571"/>
                <a:gd name="csY3" fmla="*/ 0 h 540000"/>
                <a:gd name="csX4" fmla="*/ 1994365 w 3155571"/>
                <a:gd name="csY4" fmla="*/ 0 h 540000"/>
                <a:gd name="csX5" fmla="*/ 2529967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529967 w 3155571"/>
                <a:gd name="csY10" fmla="*/ 540000 h 540000"/>
                <a:gd name="csX11" fmla="*/ 1964609 w 3155571"/>
                <a:gd name="csY11" fmla="*/ 540000 h 540000"/>
                <a:gd name="csX12" fmla="*/ 1429007 w 3155571"/>
                <a:gd name="csY12" fmla="*/ 540000 h 540000"/>
                <a:gd name="csX13" fmla="*/ 774382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10901" y="43006"/>
                    <a:pt x="30702" y="-3099"/>
                    <a:pt x="90002" y="0"/>
                  </a:cubicBezTo>
                  <a:cubicBezTo>
                    <a:pt x="328402" y="29869"/>
                    <a:pt x="458178" y="25511"/>
                    <a:pt x="744627" y="0"/>
                  </a:cubicBezTo>
                  <a:cubicBezTo>
                    <a:pt x="1031077" y="-25511"/>
                    <a:pt x="1057428" y="-26137"/>
                    <a:pt x="1369496" y="0"/>
                  </a:cubicBezTo>
                  <a:cubicBezTo>
                    <a:pt x="1681564" y="26137"/>
                    <a:pt x="1704651" y="5457"/>
                    <a:pt x="1994365" y="0"/>
                  </a:cubicBezTo>
                  <a:cubicBezTo>
                    <a:pt x="2284079" y="-5457"/>
                    <a:pt x="2363037" y="11332"/>
                    <a:pt x="2529967" y="0"/>
                  </a:cubicBezTo>
                  <a:cubicBezTo>
                    <a:pt x="2696897" y="-11332"/>
                    <a:pt x="2864376" y="3945"/>
                    <a:pt x="3065569" y="0"/>
                  </a:cubicBezTo>
                  <a:cubicBezTo>
                    <a:pt x="3116933" y="6564"/>
                    <a:pt x="3156069" y="41359"/>
                    <a:pt x="3155571" y="90002"/>
                  </a:cubicBezTo>
                  <a:cubicBezTo>
                    <a:pt x="3142696" y="204202"/>
                    <a:pt x="3137609" y="359899"/>
                    <a:pt x="3155571" y="449998"/>
                  </a:cubicBezTo>
                  <a:cubicBezTo>
                    <a:pt x="3159111" y="508652"/>
                    <a:pt x="3112253" y="540079"/>
                    <a:pt x="3065569" y="540000"/>
                  </a:cubicBezTo>
                  <a:cubicBezTo>
                    <a:pt x="2936153" y="536763"/>
                    <a:pt x="2652612" y="540508"/>
                    <a:pt x="2529967" y="540000"/>
                  </a:cubicBezTo>
                  <a:cubicBezTo>
                    <a:pt x="2407322" y="539492"/>
                    <a:pt x="2185611" y="529400"/>
                    <a:pt x="1964609" y="540000"/>
                  </a:cubicBezTo>
                  <a:cubicBezTo>
                    <a:pt x="1743607" y="550600"/>
                    <a:pt x="1674967" y="538915"/>
                    <a:pt x="1429007" y="540000"/>
                  </a:cubicBezTo>
                  <a:cubicBezTo>
                    <a:pt x="1183047" y="541085"/>
                    <a:pt x="1097957" y="542009"/>
                    <a:pt x="774382" y="540000"/>
                  </a:cubicBezTo>
                  <a:cubicBezTo>
                    <a:pt x="450808" y="537991"/>
                    <a:pt x="381418" y="506349"/>
                    <a:pt x="90002" y="540000"/>
                  </a:cubicBezTo>
                  <a:cubicBezTo>
                    <a:pt x="37797" y="544945"/>
                    <a:pt x="375" y="507833"/>
                    <a:pt x="0" y="449998"/>
                  </a:cubicBezTo>
                  <a:cubicBezTo>
                    <a:pt x="12447" y="276804"/>
                    <a:pt x="17241" y="199332"/>
                    <a:pt x="0" y="90002"/>
                  </a:cubicBezTo>
                  <a:close/>
                </a:path>
                <a:path w="3155571" h="540000" stroke="0" extrusionOk="0">
                  <a:moveTo>
                    <a:pt x="0" y="90002"/>
                  </a:moveTo>
                  <a:cubicBezTo>
                    <a:pt x="5624" y="34794"/>
                    <a:pt x="33914" y="5311"/>
                    <a:pt x="90002" y="0"/>
                  </a:cubicBezTo>
                  <a:cubicBezTo>
                    <a:pt x="216814" y="-19561"/>
                    <a:pt x="396720" y="2644"/>
                    <a:pt x="655360" y="0"/>
                  </a:cubicBezTo>
                  <a:cubicBezTo>
                    <a:pt x="914000" y="-2644"/>
                    <a:pt x="1003639" y="-30840"/>
                    <a:pt x="1280229" y="0"/>
                  </a:cubicBezTo>
                  <a:cubicBezTo>
                    <a:pt x="1556819" y="30840"/>
                    <a:pt x="1796100" y="-2106"/>
                    <a:pt x="1934854" y="0"/>
                  </a:cubicBezTo>
                  <a:cubicBezTo>
                    <a:pt x="2073609" y="2106"/>
                    <a:pt x="2204806" y="-11265"/>
                    <a:pt x="2440700" y="0"/>
                  </a:cubicBezTo>
                  <a:cubicBezTo>
                    <a:pt x="2676594" y="11265"/>
                    <a:pt x="2883080" y="21765"/>
                    <a:pt x="3065569" y="0"/>
                  </a:cubicBezTo>
                  <a:cubicBezTo>
                    <a:pt x="3120797" y="4139"/>
                    <a:pt x="3150713" y="45145"/>
                    <a:pt x="3155571" y="90002"/>
                  </a:cubicBezTo>
                  <a:cubicBezTo>
                    <a:pt x="3148453" y="164431"/>
                    <a:pt x="3146999" y="369756"/>
                    <a:pt x="3155571" y="449998"/>
                  </a:cubicBezTo>
                  <a:cubicBezTo>
                    <a:pt x="3159700" y="511195"/>
                    <a:pt x="3120266" y="539914"/>
                    <a:pt x="3065569" y="540000"/>
                  </a:cubicBezTo>
                  <a:cubicBezTo>
                    <a:pt x="2758793" y="560830"/>
                    <a:pt x="2547262" y="557675"/>
                    <a:pt x="2410944" y="540000"/>
                  </a:cubicBezTo>
                  <a:cubicBezTo>
                    <a:pt x="2274626" y="522325"/>
                    <a:pt x="1999272" y="532071"/>
                    <a:pt x="1815831" y="540000"/>
                  </a:cubicBezTo>
                  <a:cubicBezTo>
                    <a:pt x="1632390" y="547929"/>
                    <a:pt x="1465956" y="555691"/>
                    <a:pt x="1250473" y="540000"/>
                  </a:cubicBezTo>
                  <a:cubicBezTo>
                    <a:pt x="1034990" y="524309"/>
                    <a:pt x="888819" y="541331"/>
                    <a:pt x="744627" y="540000"/>
                  </a:cubicBezTo>
                  <a:cubicBezTo>
                    <a:pt x="600435" y="538669"/>
                    <a:pt x="302599" y="551942"/>
                    <a:pt x="90002" y="540000"/>
                  </a:cubicBezTo>
                  <a:cubicBezTo>
                    <a:pt x="43387" y="544733"/>
                    <a:pt x="-6970" y="496715"/>
                    <a:pt x="0" y="449998"/>
                  </a:cubicBezTo>
                  <a:cubicBezTo>
                    <a:pt x="7076" y="350009"/>
                    <a:pt x="9259" y="244462"/>
                    <a:pt x="0" y="90002"/>
                  </a:cubicBezTo>
                  <a:close/>
                </a:path>
              </a:pathLst>
            </a:custGeom>
            <a:grpFill/>
            <a:ln>
              <a:solidFill>
                <a:srgbClr val="002060"/>
              </a:solidFill>
              <a:prstDash val="dash"/>
              <a:extLst>
                <a:ext uri="{C807C97D-BFC1-408E-A445-0C87EB9F89A2}">
                  <ask:lineSketchStyleProps xmlns:ask="http://schemas.microsoft.com/office/drawing/2018/sketchyshapes" sd="1088415105">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Abrahanson et al. 2014</a:t>
              </a:r>
            </a:p>
          </p:txBody>
        </p:sp>
      </p:grpSp>
      <p:cxnSp>
        <p:nvCxnSpPr>
          <p:cNvPr id="28" name="Curved Connector 27">
            <a:extLst>
              <a:ext uri="{FF2B5EF4-FFF2-40B4-BE49-F238E27FC236}">
                <a16:creationId xmlns:a16="http://schemas.microsoft.com/office/drawing/2014/main" id="{9E7FAF60-5AA1-7066-655C-8B288FA643B8}"/>
              </a:ext>
            </a:extLst>
          </p:cNvPr>
          <p:cNvCxnSpPr>
            <a:cxnSpLocks/>
            <a:stCxn id="22" idx="3"/>
            <a:endCxn id="24" idx="1"/>
          </p:cNvCxnSpPr>
          <p:nvPr/>
        </p:nvCxnSpPr>
        <p:spPr>
          <a:xfrm flipV="1">
            <a:off x="7232268" y="3923410"/>
            <a:ext cx="820272" cy="1034142"/>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29" name="Curved Connector 28">
            <a:extLst>
              <a:ext uri="{FF2B5EF4-FFF2-40B4-BE49-F238E27FC236}">
                <a16:creationId xmlns:a16="http://schemas.microsoft.com/office/drawing/2014/main" id="{225970F7-25AA-92B0-03B5-F1501BADAA5E}"/>
              </a:ext>
            </a:extLst>
          </p:cNvPr>
          <p:cNvCxnSpPr>
            <a:cxnSpLocks/>
            <a:stCxn id="22" idx="3"/>
            <a:endCxn id="25" idx="1"/>
          </p:cNvCxnSpPr>
          <p:nvPr/>
        </p:nvCxnSpPr>
        <p:spPr>
          <a:xfrm flipV="1">
            <a:off x="7232268" y="4612838"/>
            <a:ext cx="820270" cy="344714"/>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30" name="Curved Connector 29">
            <a:extLst>
              <a:ext uri="{FF2B5EF4-FFF2-40B4-BE49-F238E27FC236}">
                <a16:creationId xmlns:a16="http://schemas.microsoft.com/office/drawing/2014/main" id="{DE859121-4071-0A6D-958A-28159B4148FD}"/>
              </a:ext>
            </a:extLst>
          </p:cNvPr>
          <p:cNvCxnSpPr>
            <a:cxnSpLocks/>
            <a:stCxn id="22" idx="3"/>
            <a:endCxn id="26" idx="1"/>
          </p:cNvCxnSpPr>
          <p:nvPr/>
        </p:nvCxnSpPr>
        <p:spPr>
          <a:xfrm>
            <a:off x="7232268" y="4957552"/>
            <a:ext cx="820270" cy="344714"/>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31" name="Curved Connector 30">
            <a:extLst>
              <a:ext uri="{FF2B5EF4-FFF2-40B4-BE49-F238E27FC236}">
                <a16:creationId xmlns:a16="http://schemas.microsoft.com/office/drawing/2014/main" id="{BECD15E0-33CF-B3D8-9294-AFC81E19EED3}"/>
              </a:ext>
            </a:extLst>
          </p:cNvPr>
          <p:cNvCxnSpPr>
            <a:cxnSpLocks/>
            <a:stCxn id="22" idx="3"/>
            <a:endCxn id="27" idx="1"/>
          </p:cNvCxnSpPr>
          <p:nvPr/>
        </p:nvCxnSpPr>
        <p:spPr>
          <a:xfrm>
            <a:off x="7232268" y="4957552"/>
            <a:ext cx="820268" cy="1034142"/>
          </a:xfrm>
          <a:prstGeom prst="curvedConnector3">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
        <p:nvSpPr>
          <p:cNvPr id="40" name="Rounded Rectangle 39">
            <a:extLst>
              <a:ext uri="{FF2B5EF4-FFF2-40B4-BE49-F238E27FC236}">
                <a16:creationId xmlns:a16="http://schemas.microsoft.com/office/drawing/2014/main" id="{D2C476D8-E50F-159C-858D-2A4B5B9877AE}"/>
              </a:ext>
            </a:extLst>
          </p:cNvPr>
          <p:cNvSpPr/>
          <p:nvPr/>
        </p:nvSpPr>
        <p:spPr>
          <a:xfrm>
            <a:off x="2561676" y="5946665"/>
            <a:ext cx="1918444" cy="540000"/>
          </a:xfrm>
          <a:custGeom>
            <a:avLst/>
            <a:gdLst>
              <a:gd name="csX0" fmla="*/ 0 w 1918444"/>
              <a:gd name="csY0" fmla="*/ 90002 h 540000"/>
              <a:gd name="csX1" fmla="*/ 90002 w 1918444"/>
              <a:gd name="csY1" fmla="*/ 0 h 540000"/>
              <a:gd name="csX2" fmla="*/ 686866 w 1918444"/>
              <a:gd name="csY2" fmla="*/ 0 h 540000"/>
              <a:gd name="csX3" fmla="*/ 1266346 w 1918444"/>
              <a:gd name="csY3" fmla="*/ 0 h 540000"/>
              <a:gd name="csX4" fmla="*/ 1828442 w 1918444"/>
              <a:gd name="csY4" fmla="*/ 0 h 540000"/>
              <a:gd name="csX5" fmla="*/ 1918444 w 1918444"/>
              <a:gd name="csY5" fmla="*/ 90002 h 540000"/>
              <a:gd name="csX6" fmla="*/ 1918444 w 1918444"/>
              <a:gd name="csY6" fmla="*/ 449998 h 540000"/>
              <a:gd name="csX7" fmla="*/ 1828442 w 1918444"/>
              <a:gd name="csY7" fmla="*/ 540000 h 540000"/>
              <a:gd name="csX8" fmla="*/ 1231578 w 1918444"/>
              <a:gd name="csY8" fmla="*/ 540000 h 540000"/>
              <a:gd name="csX9" fmla="*/ 704251 w 1918444"/>
              <a:gd name="csY9" fmla="*/ 540000 h 540000"/>
              <a:gd name="csX10" fmla="*/ 90002 w 1918444"/>
              <a:gd name="csY10" fmla="*/ 540000 h 540000"/>
              <a:gd name="csX11" fmla="*/ 0 w 1918444"/>
              <a:gd name="csY11" fmla="*/ 449998 h 540000"/>
              <a:gd name="csX12" fmla="*/ 0 w 1918444"/>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18444" h="540000" fill="none" extrusionOk="0">
                <a:moveTo>
                  <a:pt x="0" y="90002"/>
                </a:moveTo>
                <a:cubicBezTo>
                  <a:pt x="-7603" y="41543"/>
                  <a:pt x="33146" y="-4933"/>
                  <a:pt x="90002" y="0"/>
                </a:cubicBezTo>
                <a:cubicBezTo>
                  <a:pt x="346707" y="-16241"/>
                  <a:pt x="476479" y="23837"/>
                  <a:pt x="686866" y="0"/>
                </a:cubicBezTo>
                <a:cubicBezTo>
                  <a:pt x="897253" y="-23837"/>
                  <a:pt x="1020003" y="4224"/>
                  <a:pt x="1266346" y="0"/>
                </a:cubicBezTo>
                <a:cubicBezTo>
                  <a:pt x="1512689" y="-4224"/>
                  <a:pt x="1549266" y="11425"/>
                  <a:pt x="1828442" y="0"/>
                </a:cubicBezTo>
                <a:cubicBezTo>
                  <a:pt x="1866890" y="464"/>
                  <a:pt x="1923150" y="31811"/>
                  <a:pt x="1918444" y="90002"/>
                </a:cubicBezTo>
                <a:cubicBezTo>
                  <a:pt x="1920030" y="206242"/>
                  <a:pt x="1929570" y="301308"/>
                  <a:pt x="1918444" y="449998"/>
                </a:cubicBezTo>
                <a:cubicBezTo>
                  <a:pt x="1923262" y="509244"/>
                  <a:pt x="1873428" y="542489"/>
                  <a:pt x="1828442" y="540000"/>
                </a:cubicBezTo>
                <a:cubicBezTo>
                  <a:pt x="1673986" y="516353"/>
                  <a:pt x="1432655" y="539237"/>
                  <a:pt x="1231578" y="540000"/>
                </a:cubicBezTo>
                <a:cubicBezTo>
                  <a:pt x="1030501" y="540763"/>
                  <a:pt x="822346" y="534507"/>
                  <a:pt x="704251" y="540000"/>
                </a:cubicBezTo>
                <a:cubicBezTo>
                  <a:pt x="586156" y="545493"/>
                  <a:pt x="254421" y="557212"/>
                  <a:pt x="90002" y="540000"/>
                </a:cubicBezTo>
                <a:cubicBezTo>
                  <a:pt x="43417" y="541093"/>
                  <a:pt x="1497" y="504749"/>
                  <a:pt x="0" y="449998"/>
                </a:cubicBezTo>
                <a:cubicBezTo>
                  <a:pt x="10345" y="295588"/>
                  <a:pt x="-123" y="200971"/>
                  <a:pt x="0" y="90002"/>
                </a:cubicBezTo>
                <a:close/>
              </a:path>
              <a:path w="1918444" h="540000" stroke="0" extrusionOk="0">
                <a:moveTo>
                  <a:pt x="0" y="90002"/>
                </a:moveTo>
                <a:cubicBezTo>
                  <a:pt x="-9037" y="34721"/>
                  <a:pt x="35995" y="1614"/>
                  <a:pt x="90002" y="0"/>
                </a:cubicBezTo>
                <a:cubicBezTo>
                  <a:pt x="220350" y="-18708"/>
                  <a:pt x="434386" y="22832"/>
                  <a:pt x="704251" y="0"/>
                </a:cubicBezTo>
                <a:cubicBezTo>
                  <a:pt x="974116" y="-22832"/>
                  <a:pt x="1096626" y="-26813"/>
                  <a:pt x="1266346" y="0"/>
                </a:cubicBezTo>
                <a:cubicBezTo>
                  <a:pt x="1436067" y="26813"/>
                  <a:pt x="1613530" y="-10385"/>
                  <a:pt x="1828442" y="0"/>
                </a:cubicBezTo>
                <a:cubicBezTo>
                  <a:pt x="1876335" y="-5842"/>
                  <a:pt x="1920690" y="31985"/>
                  <a:pt x="1918444" y="90002"/>
                </a:cubicBezTo>
                <a:cubicBezTo>
                  <a:pt x="1932424" y="164508"/>
                  <a:pt x="1916944" y="283030"/>
                  <a:pt x="1918444" y="449998"/>
                </a:cubicBezTo>
                <a:cubicBezTo>
                  <a:pt x="1917757" y="493152"/>
                  <a:pt x="1871003" y="549931"/>
                  <a:pt x="1828442" y="540000"/>
                </a:cubicBezTo>
                <a:cubicBezTo>
                  <a:pt x="1664780" y="550015"/>
                  <a:pt x="1491899" y="534164"/>
                  <a:pt x="1283731" y="540000"/>
                </a:cubicBezTo>
                <a:cubicBezTo>
                  <a:pt x="1075563" y="545836"/>
                  <a:pt x="928022" y="565756"/>
                  <a:pt x="704251" y="540000"/>
                </a:cubicBezTo>
                <a:cubicBezTo>
                  <a:pt x="480480" y="514244"/>
                  <a:pt x="231263" y="511545"/>
                  <a:pt x="90002" y="540000"/>
                </a:cubicBezTo>
                <a:cubicBezTo>
                  <a:pt x="47510" y="532870"/>
                  <a:pt x="3274" y="497594"/>
                  <a:pt x="0" y="449998"/>
                </a:cubicBezTo>
                <a:cubicBezTo>
                  <a:pt x="2024" y="275979"/>
                  <a:pt x="-7437" y="162155"/>
                  <a:pt x="0" y="90002"/>
                </a:cubicBezTo>
                <a:close/>
              </a:path>
            </a:pathLst>
          </a:custGeom>
          <a:solidFill>
            <a:schemeClr val="accent4">
              <a:lumMod val="20000"/>
              <a:lumOff val="80000"/>
            </a:schemeClr>
          </a:solidFill>
          <a:ln>
            <a:solidFill>
              <a:srgbClr val="002060"/>
            </a:solidFill>
            <a:prstDash val="dash"/>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600" dirty="0">
                <a:solidFill>
                  <a:srgbClr val="002060"/>
                </a:solidFill>
                <a:latin typeface="Titillium Web" pitchFamily="2" charset="77"/>
              </a:rPr>
              <a:t>R</a:t>
            </a:r>
            <a:r>
              <a:rPr lang="en-PT" sz="1600" dirty="0">
                <a:solidFill>
                  <a:srgbClr val="002060"/>
                </a:solidFill>
                <a:latin typeface="Titillium Web" pitchFamily="2" charset="77"/>
              </a:rPr>
              <a:t>egional/global model</a:t>
            </a:r>
          </a:p>
        </p:txBody>
      </p:sp>
      <p:sp>
        <p:nvSpPr>
          <p:cNvPr id="41" name="Rounded Rectangle 40">
            <a:extLst>
              <a:ext uri="{FF2B5EF4-FFF2-40B4-BE49-F238E27FC236}">
                <a16:creationId xmlns:a16="http://schemas.microsoft.com/office/drawing/2014/main" id="{D6A97EED-B7D0-9917-D408-5B69450268CA}"/>
              </a:ext>
            </a:extLst>
          </p:cNvPr>
          <p:cNvSpPr/>
          <p:nvPr/>
        </p:nvSpPr>
        <p:spPr>
          <a:xfrm>
            <a:off x="340672" y="5946665"/>
            <a:ext cx="1918444" cy="540000"/>
          </a:xfrm>
          <a:custGeom>
            <a:avLst/>
            <a:gdLst>
              <a:gd name="csX0" fmla="*/ 0 w 1918444"/>
              <a:gd name="csY0" fmla="*/ 90002 h 540000"/>
              <a:gd name="csX1" fmla="*/ 90002 w 1918444"/>
              <a:gd name="csY1" fmla="*/ 0 h 540000"/>
              <a:gd name="csX2" fmla="*/ 704251 w 1918444"/>
              <a:gd name="csY2" fmla="*/ 0 h 540000"/>
              <a:gd name="csX3" fmla="*/ 1248962 w 1918444"/>
              <a:gd name="csY3" fmla="*/ 0 h 540000"/>
              <a:gd name="csX4" fmla="*/ 1828442 w 1918444"/>
              <a:gd name="csY4" fmla="*/ 0 h 540000"/>
              <a:gd name="csX5" fmla="*/ 1918444 w 1918444"/>
              <a:gd name="csY5" fmla="*/ 90002 h 540000"/>
              <a:gd name="csX6" fmla="*/ 1918444 w 1918444"/>
              <a:gd name="csY6" fmla="*/ 449998 h 540000"/>
              <a:gd name="csX7" fmla="*/ 1828442 w 1918444"/>
              <a:gd name="csY7" fmla="*/ 540000 h 540000"/>
              <a:gd name="csX8" fmla="*/ 1301115 w 1918444"/>
              <a:gd name="csY8" fmla="*/ 540000 h 540000"/>
              <a:gd name="csX9" fmla="*/ 756404 w 1918444"/>
              <a:gd name="csY9" fmla="*/ 540000 h 540000"/>
              <a:gd name="csX10" fmla="*/ 90002 w 1918444"/>
              <a:gd name="csY10" fmla="*/ 540000 h 540000"/>
              <a:gd name="csX11" fmla="*/ 0 w 1918444"/>
              <a:gd name="csY11" fmla="*/ 449998 h 540000"/>
              <a:gd name="csX12" fmla="*/ 0 w 1918444"/>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18444" h="540000" fill="none" extrusionOk="0">
                <a:moveTo>
                  <a:pt x="0" y="90002"/>
                </a:moveTo>
                <a:cubicBezTo>
                  <a:pt x="7087" y="38649"/>
                  <a:pt x="43463" y="-6345"/>
                  <a:pt x="90002" y="0"/>
                </a:cubicBezTo>
                <a:cubicBezTo>
                  <a:pt x="349064" y="18283"/>
                  <a:pt x="433220" y="-24353"/>
                  <a:pt x="704251" y="0"/>
                </a:cubicBezTo>
                <a:cubicBezTo>
                  <a:pt x="975282" y="24353"/>
                  <a:pt x="1081150" y="3133"/>
                  <a:pt x="1248962" y="0"/>
                </a:cubicBezTo>
                <a:cubicBezTo>
                  <a:pt x="1416774" y="-3133"/>
                  <a:pt x="1667191" y="-25174"/>
                  <a:pt x="1828442" y="0"/>
                </a:cubicBezTo>
                <a:cubicBezTo>
                  <a:pt x="1872952" y="4326"/>
                  <a:pt x="1915424" y="36661"/>
                  <a:pt x="1918444" y="90002"/>
                </a:cubicBezTo>
                <a:cubicBezTo>
                  <a:pt x="1926796" y="201270"/>
                  <a:pt x="1900992" y="375920"/>
                  <a:pt x="1918444" y="449998"/>
                </a:cubicBezTo>
                <a:cubicBezTo>
                  <a:pt x="1918597" y="506052"/>
                  <a:pt x="1873540" y="532917"/>
                  <a:pt x="1828442" y="540000"/>
                </a:cubicBezTo>
                <a:cubicBezTo>
                  <a:pt x="1710203" y="517813"/>
                  <a:pt x="1547304" y="549994"/>
                  <a:pt x="1301115" y="540000"/>
                </a:cubicBezTo>
                <a:cubicBezTo>
                  <a:pt x="1054926" y="530006"/>
                  <a:pt x="964590" y="533295"/>
                  <a:pt x="756404" y="540000"/>
                </a:cubicBezTo>
                <a:cubicBezTo>
                  <a:pt x="548218" y="546705"/>
                  <a:pt x="247581" y="537948"/>
                  <a:pt x="90002" y="540000"/>
                </a:cubicBezTo>
                <a:cubicBezTo>
                  <a:pt x="35954" y="530914"/>
                  <a:pt x="-10400" y="498643"/>
                  <a:pt x="0" y="449998"/>
                </a:cubicBezTo>
                <a:cubicBezTo>
                  <a:pt x="-3029" y="314961"/>
                  <a:pt x="11156" y="206338"/>
                  <a:pt x="0" y="90002"/>
                </a:cubicBezTo>
                <a:close/>
              </a:path>
              <a:path w="1918444" h="540000" stroke="0" extrusionOk="0">
                <a:moveTo>
                  <a:pt x="0" y="90002"/>
                </a:moveTo>
                <a:cubicBezTo>
                  <a:pt x="931" y="39480"/>
                  <a:pt x="37705" y="-655"/>
                  <a:pt x="90002" y="0"/>
                </a:cubicBezTo>
                <a:cubicBezTo>
                  <a:pt x="239616" y="-13056"/>
                  <a:pt x="437531" y="-3346"/>
                  <a:pt x="617329" y="0"/>
                </a:cubicBezTo>
                <a:cubicBezTo>
                  <a:pt x="797127" y="3346"/>
                  <a:pt x="924267" y="26052"/>
                  <a:pt x="1144656" y="0"/>
                </a:cubicBezTo>
                <a:cubicBezTo>
                  <a:pt x="1365045" y="-26052"/>
                  <a:pt x="1590018" y="32135"/>
                  <a:pt x="1828442" y="0"/>
                </a:cubicBezTo>
                <a:cubicBezTo>
                  <a:pt x="1880095" y="12259"/>
                  <a:pt x="1916364" y="28231"/>
                  <a:pt x="1918444" y="90002"/>
                </a:cubicBezTo>
                <a:cubicBezTo>
                  <a:pt x="1933144" y="215299"/>
                  <a:pt x="1904103" y="303641"/>
                  <a:pt x="1918444" y="449998"/>
                </a:cubicBezTo>
                <a:cubicBezTo>
                  <a:pt x="1921005" y="500268"/>
                  <a:pt x="1867655" y="546152"/>
                  <a:pt x="1828442" y="540000"/>
                </a:cubicBezTo>
                <a:cubicBezTo>
                  <a:pt x="1624597" y="534367"/>
                  <a:pt x="1503932" y="521014"/>
                  <a:pt x="1283731" y="540000"/>
                </a:cubicBezTo>
                <a:cubicBezTo>
                  <a:pt x="1063530" y="558986"/>
                  <a:pt x="860844" y="514326"/>
                  <a:pt x="739020" y="540000"/>
                </a:cubicBezTo>
                <a:cubicBezTo>
                  <a:pt x="617196" y="565674"/>
                  <a:pt x="227206" y="540112"/>
                  <a:pt x="90002" y="540000"/>
                </a:cubicBezTo>
                <a:cubicBezTo>
                  <a:pt x="43509" y="538419"/>
                  <a:pt x="1900" y="492535"/>
                  <a:pt x="0" y="449998"/>
                </a:cubicBezTo>
                <a:cubicBezTo>
                  <a:pt x="-318" y="372350"/>
                  <a:pt x="8881" y="231793"/>
                  <a:pt x="0" y="90002"/>
                </a:cubicBezTo>
                <a:close/>
              </a:path>
            </a:pathLst>
          </a:custGeom>
          <a:solidFill>
            <a:schemeClr val="accent4">
              <a:lumMod val="20000"/>
              <a:lumOff val="80000"/>
            </a:schemeClr>
          </a:solidFill>
          <a:ln>
            <a:solidFill>
              <a:srgbClr val="002060"/>
            </a:solidFill>
            <a:prstDash val="solid"/>
            <a:extLst>
              <a:ext uri="{C807C97D-BFC1-408E-A445-0C87EB9F89A2}">
                <ask:lineSketchStyleProps xmlns:ask="http://schemas.microsoft.com/office/drawing/2018/sketchyshapes" sd="182505698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dirty="0">
                <a:solidFill>
                  <a:srgbClr val="002060"/>
                </a:solidFill>
                <a:latin typeface="Titillium Web" pitchFamily="2" charset="77"/>
              </a:rPr>
              <a:t>National model</a:t>
            </a:r>
            <a:endParaRPr lang="en-PT" sz="1600" dirty="0">
              <a:solidFill>
                <a:srgbClr val="002060"/>
              </a:solidFill>
              <a:latin typeface="Titillium Web" pitchFamily="2" charset="77"/>
            </a:endParaRPr>
          </a:p>
        </p:txBody>
      </p:sp>
    </p:spTree>
    <p:extLst>
      <p:ext uri="{BB962C8B-B14F-4D97-AF65-F5344CB8AC3E}">
        <p14:creationId xmlns:p14="http://schemas.microsoft.com/office/powerpoint/2010/main" val="26282499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BC65FD-EC19-CD95-9E18-527D8B46C8F0}"/>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9F1BB04E-303E-8B8F-4F97-BC7C519D365D}"/>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9B6CA208-8604-BA84-2C24-409D8B4B828B}"/>
              </a:ext>
            </a:extLst>
          </p:cNvPr>
          <p:cNvSpPr txBox="1"/>
          <p:nvPr/>
        </p:nvSpPr>
        <p:spPr>
          <a:xfrm>
            <a:off x="188260" y="1290918"/>
            <a:ext cx="4410634" cy="646331"/>
          </a:xfrm>
          <a:prstGeom prst="rect">
            <a:avLst/>
          </a:prstGeom>
          <a:noFill/>
        </p:spPr>
        <p:txBody>
          <a:bodyPr wrap="square" rtlCol="0">
            <a:spAutoFit/>
          </a:bodyPr>
          <a:lstStyle/>
          <a:p>
            <a:r>
              <a:rPr lang="en-PT" dirty="0">
                <a:solidFill>
                  <a:srgbClr val="002060"/>
                </a:solidFill>
                <a:latin typeface="Titillium Web" pitchFamily="2" charset="77"/>
              </a:rPr>
              <a:t>Seismic hazard (PGA for the 475 years return period) for mainland Portugal, using:</a:t>
            </a:r>
          </a:p>
        </p:txBody>
      </p:sp>
      <p:sp>
        <p:nvSpPr>
          <p:cNvPr id="2" name="Rounded Rectangle 1">
            <a:extLst>
              <a:ext uri="{FF2B5EF4-FFF2-40B4-BE49-F238E27FC236}">
                <a16:creationId xmlns:a16="http://schemas.microsoft.com/office/drawing/2014/main" id="{3BF0E222-DEAC-09B3-EF07-7BD697B24801}"/>
              </a:ext>
            </a:extLst>
          </p:cNvPr>
          <p:cNvSpPr/>
          <p:nvPr/>
        </p:nvSpPr>
        <p:spPr>
          <a:xfrm>
            <a:off x="1462872" y="2585955"/>
            <a:ext cx="1900517" cy="540000"/>
          </a:xfrm>
          <a:custGeom>
            <a:avLst/>
            <a:gdLst>
              <a:gd name="csX0" fmla="*/ 0 w 1900517"/>
              <a:gd name="csY0" fmla="*/ 90002 h 540000"/>
              <a:gd name="csX1" fmla="*/ 90002 w 1900517"/>
              <a:gd name="csY1" fmla="*/ 0 h 540000"/>
              <a:gd name="csX2" fmla="*/ 697917 w 1900517"/>
              <a:gd name="csY2" fmla="*/ 0 h 540000"/>
              <a:gd name="csX3" fmla="*/ 1237011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88626 w 1900517"/>
              <a:gd name="csY8" fmla="*/ 540000 h 540000"/>
              <a:gd name="csX9" fmla="*/ 749532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087" y="38649"/>
                  <a:pt x="43463" y="-6345"/>
                  <a:pt x="90002" y="0"/>
                </a:cubicBezTo>
                <a:cubicBezTo>
                  <a:pt x="355467" y="-11402"/>
                  <a:pt x="418479" y="-24424"/>
                  <a:pt x="697917" y="0"/>
                </a:cubicBezTo>
                <a:cubicBezTo>
                  <a:pt x="977355" y="24424"/>
                  <a:pt x="1101179" y="14266"/>
                  <a:pt x="1237011" y="0"/>
                </a:cubicBezTo>
                <a:cubicBezTo>
                  <a:pt x="1372843" y="-14266"/>
                  <a:pt x="1674162" y="5036"/>
                  <a:pt x="1810515" y="0"/>
                </a:cubicBezTo>
                <a:cubicBezTo>
                  <a:pt x="1855025" y="4326"/>
                  <a:pt x="1897497" y="36661"/>
                  <a:pt x="1900517" y="90002"/>
                </a:cubicBezTo>
                <a:cubicBezTo>
                  <a:pt x="1908869" y="201270"/>
                  <a:pt x="1883065" y="375920"/>
                  <a:pt x="1900517" y="449998"/>
                </a:cubicBezTo>
                <a:cubicBezTo>
                  <a:pt x="1900670" y="506052"/>
                  <a:pt x="1855613" y="532917"/>
                  <a:pt x="1810515" y="540000"/>
                </a:cubicBezTo>
                <a:cubicBezTo>
                  <a:pt x="1637650" y="563456"/>
                  <a:pt x="1547323" y="545042"/>
                  <a:pt x="1288626" y="540000"/>
                </a:cubicBezTo>
                <a:cubicBezTo>
                  <a:pt x="1029929" y="534958"/>
                  <a:pt x="996056" y="542827"/>
                  <a:pt x="749532" y="540000"/>
                </a:cubicBezTo>
                <a:cubicBezTo>
                  <a:pt x="503008" y="537173"/>
                  <a:pt x="276055" y="541826"/>
                  <a:pt x="90002" y="540000"/>
                </a:cubicBezTo>
                <a:cubicBezTo>
                  <a:pt x="35954" y="530914"/>
                  <a:pt x="-10400" y="498643"/>
                  <a:pt x="0" y="449998"/>
                </a:cubicBezTo>
                <a:cubicBezTo>
                  <a:pt x="-3029" y="314961"/>
                  <a:pt x="11156" y="206338"/>
                  <a:pt x="0" y="90002"/>
                </a:cubicBezTo>
                <a:close/>
              </a:path>
              <a:path w="1900517" h="540000" stroke="0" extrusionOk="0">
                <a:moveTo>
                  <a:pt x="0" y="90002"/>
                </a:moveTo>
                <a:cubicBezTo>
                  <a:pt x="931" y="39480"/>
                  <a:pt x="37705" y="-655"/>
                  <a:pt x="90002" y="0"/>
                </a:cubicBezTo>
                <a:cubicBezTo>
                  <a:pt x="241798" y="-8962"/>
                  <a:pt x="420135" y="11875"/>
                  <a:pt x="611891" y="0"/>
                </a:cubicBezTo>
                <a:cubicBezTo>
                  <a:pt x="803647" y="-11875"/>
                  <a:pt x="917558" y="8808"/>
                  <a:pt x="1133780" y="0"/>
                </a:cubicBezTo>
                <a:cubicBezTo>
                  <a:pt x="1350002" y="-8808"/>
                  <a:pt x="1500364" y="-33721"/>
                  <a:pt x="1810515" y="0"/>
                </a:cubicBezTo>
                <a:cubicBezTo>
                  <a:pt x="1862168" y="12259"/>
                  <a:pt x="1898437" y="28231"/>
                  <a:pt x="1900517" y="90002"/>
                </a:cubicBezTo>
                <a:cubicBezTo>
                  <a:pt x="1915217" y="215299"/>
                  <a:pt x="1886176" y="303641"/>
                  <a:pt x="1900517" y="449998"/>
                </a:cubicBezTo>
                <a:cubicBezTo>
                  <a:pt x="1903078" y="500268"/>
                  <a:pt x="1849728" y="546152"/>
                  <a:pt x="1810515" y="540000"/>
                </a:cubicBezTo>
                <a:cubicBezTo>
                  <a:pt x="1691714" y="549468"/>
                  <a:pt x="1480693" y="559524"/>
                  <a:pt x="1271421" y="540000"/>
                </a:cubicBezTo>
                <a:cubicBezTo>
                  <a:pt x="1062149" y="520476"/>
                  <a:pt x="921989" y="542663"/>
                  <a:pt x="732327" y="540000"/>
                </a:cubicBezTo>
                <a:cubicBezTo>
                  <a:pt x="542665" y="537337"/>
                  <a:pt x="228329" y="549481"/>
                  <a:pt x="90002" y="540000"/>
                </a:cubicBezTo>
                <a:cubicBezTo>
                  <a:pt x="43509" y="538419"/>
                  <a:pt x="1900" y="492535"/>
                  <a:pt x="0" y="449998"/>
                </a:cubicBezTo>
                <a:cubicBezTo>
                  <a:pt x="-318" y="372350"/>
                  <a:pt x="8881" y="231793"/>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82505698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Inland events</a:t>
            </a:r>
          </a:p>
        </p:txBody>
      </p:sp>
      <p:sp>
        <p:nvSpPr>
          <p:cNvPr id="3" name="Rounded Rectangle 2">
            <a:extLst>
              <a:ext uri="{FF2B5EF4-FFF2-40B4-BE49-F238E27FC236}">
                <a16:creationId xmlns:a16="http://schemas.microsoft.com/office/drawing/2014/main" id="{20680EA0-E468-A04D-7AF2-7114578907B3}"/>
              </a:ext>
            </a:extLst>
          </p:cNvPr>
          <p:cNvSpPr/>
          <p:nvPr/>
        </p:nvSpPr>
        <p:spPr>
          <a:xfrm>
            <a:off x="835343" y="3462046"/>
            <a:ext cx="3155575" cy="540000"/>
          </a:xfrm>
          <a:custGeom>
            <a:avLst/>
            <a:gdLst>
              <a:gd name="csX0" fmla="*/ 0 w 3155575"/>
              <a:gd name="csY0" fmla="*/ 90002 h 540000"/>
              <a:gd name="csX1" fmla="*/ 90002 w 3155575"/>
              <a:gd name="csY1" fmla="*/ 0 h 540000"/>
              <a:gd name="csX2" fmla="*/ 625605 w 3155575"/>
              <a:gd name="csY2" fmla="*/ 0 h 540000"/>
              <a:gd name="csX3" fmla="*/ 1220719 w 3155575"/>
              <a:gd name="csY3" fmla="*/ 0 h 540000"/>
              <a:gd name="csX4" fmla="*/ 1756322 w 3155575"/>
              <a:gd name="csY4" fmla="*/ 0 h 540000"/>
              <a:gd name="csX5" fmla="*/ 2351436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500215 w 3155575"/>
              <a:gd name="csY10" fmla="*/ 540000 h 540000"/>
              <a:gd name="csX11" fmla="*/ 1994367 w 3155575"/>
              <a:gd name="csY11" fmla="*/ 540000 h 540000"/>
              <a:gd name="csX12" fmla="*/ 1369498 w 3155575"/>
              <a:gd name="csY12" fmla="*/ 540000 h 540000"/>
              <a:gd name="csX13" fmla="*/ 833895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620" y="41404"/>
                  <a:pt x="42369" y="1541"/>
                  <a:pt x="90002" y="0"/>
                </a:cubicBezTo>
                <a:cubicBezTo>
                  <a:pt x="216137" y="1015"/>
                  <a:pt x="479248" y="6286"/>
                  <a:pt x="625605" y="0"/>
                </a:cubicBezTo>
                <a:cubicBezTo>
                  <a:pt x="771962" y="-6286"/>
                  <a:pt x="1014105" y="-7901"/>
                  <a:pt x="1220719" y="0"/>
                </a:cubicBezTo>
                <a:cubicBezTo>
                  <a:pt x="1427333" y="7901"/>
                  <a:pt x="1642026" y="-14423"/>
                  <a:pt x="1756322" y="0"/>
                </a:cubicBezTo>
                <a:cubicBezTo>
                  <a:pt x="1870618" y="14423"/>
                  <a:pt x="2186052" y="-16973"/>
                  <a:pt x="2351436" y="0"/>
                </a:cubicBezTo>
                <a:cubicBezTo>
                  <a:pt x="2516820" y="16973"/>
                  <a:pt x="2899000" y="-18730"/>
                  <a:pt x="3065573" y="0"/>
                </a:cubicBezTo>
                <a:cubicBezTo>
                  <a:pt x="3117706" y="-7462"/>
                  <a:pt x="3156551" y="41350"/>
                  <a:pt x="3155575" y="90002"/>
                </a:cubicBezTo>
                <a:cubicBezTo>
                  <a:pt x="3160818" y="179923"/>
                  <a:pt x="3166457" y="376404"/>
                  <a:pt x="3155575" y="449998"/>
                </a:cubicBezTo>
                <a:cubicBezTo>
                  <a:pt x="3155172" y="491350"/>
                  <a:pt x="3117214" y="541218"/>
                  <a:pt x="3065573" y="540000"/>
                </a:cubicBezTo>
                <a:cubicBezTo>
                  <a:pt x="2858710" y="543446"/>
                  <a:pt x="2701242" y="528015"/>
                  <a:pt x="2500215" y="540000"/>
                </a:cubicBezTo>
                <a:cubicBezTo>
                  <a:pt x="2299188" y="551985"/>
                  <a:pt x="2197222" y="514714"/>
                  <a:pt x="1994367" y="540000"/>
                </a:cubicBezTo>
                <a:cubicBezTo>
                  <a:pt x="1791512" y="565286"/>
                  <a:pt x="1572355" y="535880"/>
                  <a:pt x="1369498" y="540000"/>
                </a:cubicBezTo>
                <a:cubicBezTo>
                  <a:pt x="1166641" y="544120"/>
                  <a:pt x="1095232" y="542631"/>
                  <a:pt x="833895" y="540000"/>
                </a:cubicBezTo>
                <a:cubicBezTo>
                  <a:pt x="572558" y="537369"/>
                  <a:pt x="405931" y="541985"/>
                  <a:pt x="90002" y="540000"/>
                </a:cubicBezTo>
                <a:cubicBezTo>
                  <a:pt x="42276" y="531356"/>
                  <a:pt x="-6533" y="499494"/>
                  <a:pt x="0" y="449998"/>
                </a:cubicBezTo>
                <a:cubicBezTo>
                  <a:pt x="-2774" y="358857"/>
                  <a:pt x="15469" y="180620"/>
                  <a:pt x="0" y="90002"/>
                </a:cubicBezTo>
                <a:close/>
              </a:path>
              <a:path w="3155575" h="540000" stroke="0" extrusionOk="0">
                <a:moveTo>
                  <a:pt x="0" y="90002"/>
                </a:moveTo>
                <a:cubicBezTo>
                  <a:pt x="-9037" y="34721"/>
                  <a:pt x="35995" y="1614"/>
                  <a:pt x="90002" y="0"/>
                </a:cubicBezTo>
                <a:cubicBezTo>
                  <a:pt x="363867" y="-28478"/>
                  <a:pt x="517290" y="-2228"/>
                  <a:pt x="744628" y="0"/>
                </a:cubicBezTo>
                <a:cubicBezTo>
                  <a:pt x="971966" y="2228"/>
                  <a:pt x="1105994" y="-13646"/>
                  <a:pt x="1309986" y="0"/>
                </a:cubicBezTo>
                <a:cubicBezTo>
                  <a:pt x="1513978" y="13646"/>
                  <a:pt x="1662595" y="23350"/>
                  <a:pt x="1845589" y="0"/>
                </a:cubicBezTo>
                <a:cubicBezTo>
                  <a:pt x="2028583" y="-23350"/>
                  <a:pt x="2224723" y="4861"/>
                  <a:pt x="2470459" y="0"/>
                </a:cubicBezTo>
                <a:cubicBezTo>
                  <a:pt x="2716195" y="-4861"/>
                  <a:pt x="2881533" y="26021"/>
                  <a:pt x="3065573" y="0"/>
                </a:cubicBezTo>
                <a:cubicBezTo>
                  <a:pt x="3120920" y="-9178"/>
                  <a:pt x="3151538" y="43842"/>
                  <a:pt x="3155575" y="90002"/>
                </a:cubicBezTo>
                <a:cubicBezTo>
                  <a:pt x="3161413" y="175369"/>
                  <a:pt x="3165521" y="305738"/>
                  <a:pt x="3155575" y="449998"/>
                </a:cubicBezTo>
                <a:cubicBezTo>
                  <a:pt x="3162896" y="501465"/>
                  <a:pt x="3104800" y="538305"/>
                  <a:pt x="3065573" y="540000"/>
                </a:cubicBezTo>
                <a:cubicBezTo>
                  <a:pt x="2871117" y="560054"/>
                  <a:pt x="2722688" y="530462"/>
                  <a:pt x="2470459" y="540000"/>
                </a:cubicBezTo>
                <a:cubicBezTo>
                  <a:pt x="2218230" y="549538"/>
                  <a:pt x="2091719" y="517994"/>
                  <a:pt x="1905100" y="540000"/>
                </a:cubicBezTo>
                <a:cubicBezTo>
                  <a:pt x="1718481" y="562006"/>
                  <a:pt x="1416086" y="513017"/>
                  <a:pt x="1250475" y="540000"/>
                </a:cubicBezTo>
                <a:cubicBezTo>
                  <a:pt x="1084864" y="566983"/>
                  <a:pt x="834463" y="525396"/>
                  <a:pt x="595849" y="540000"/>
                </a:cubicBezTo>
                <a:cubicBezTo>
                  <a:pt x="357235" y="554604"/>
                  <a:pt x="327179" y="56319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Morgado et al. 2026 </a:t>
            </a:r>
            <a:r>
              <a:rPr lang="en-PT" sz="1100" dirty="0">
                <a:solidFill>
                  <a:srgbClr val="002060"/>
                </a:solidFill>
                <a:latin typeface="Titillium Web" pitchFamily="2" charset="77"/>
              </a:rPr>
              <a:t>(inland)</a:t>
            </a:r>
            <a:endParaRPr lang="en-PT" dirty="0">
              <a:solidFill>
                <a:srgbClr val="002060"/>
              </a:solidFill>
              <a:latin typeface="Titillium Web" pitchFamily="2" charset="77"/>
            </a:endParaRPr>
          </a:p>
        </p:txBody>
      </p:sp>
      <p:sp>
        <p:nvSpPr>
          <p:cNvPr id="22" name="Rounded Rectangle 21">
            <a:extLst>
              <a:ext uri="{FF2B5EF4-FFF2-40B4-BE49-F238E27FC236}">
                <a16:creationId xmlns:a16="http://schemas.microsoft.com/office/drawing/2014/main" id="{407412F6-DFAD-78A1-36F8-8DE81B4A3422}"/>
              </a:ext>
            </a:extLst>
          </p:cNvPr>
          <p:cNvSpPr/>
          <p:nvPr/>
        </p:nvSpPr>
        <p:spPr>
          <a:xfrm>
            <a:off x="1462872" y="4503626"/>
            <a:ext cx="1900517" cy="540000"/>
          </a:xfrm>
          <a:custGeom>
            <a:avLst/>
            <a:gdLst>
              <a:gd name="csX0" fmla="*/ 0 w 1900517"/>
              <a:gd name="csY0" fmla="*/ 90002 h 540000"/>
              <a:gd name="csX1" fmla="*/ 90002 w 1900517"/>
              <a:gd name="csY1" fmla="*/ 0 h 540000"/>
              <a:gd name="csX2" fmla="*/ 680711 w 1900517"/>
              <a:gd name="csY2" fmla="*/ 0 h 540000"/>
              <a:gd name="csX3" fmla="*/ 1254216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19806 w 1900517"/>
              <a:gd name="csY8" fmla="*/ 540000 h 540000"/>
              <a:gd name="csX9" fmla="*/ 697917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603" y="41543"/>
                  <a:pt x="33146" y="-4933"/>
                  <a:pt x="90002" y="0"/>
                </a:cubicBezTo>
                <a:cubicBezTo>
                  <a:pt x="283034" y="3233"/>
                  <a:pt x="390086" y="29445"/>
                  <a:pt x="680711" y="0"/>
                </a:cubicBezTo>
                <a:cubicBezTo>
                  <a:pt x="971336" y="-29445"/>
                  <a:pt x="970393" y="20127"/>
                  <a:pt x="1254216" y="0"/>
                </a:cubicBezTo>
                <a:cubicBezTo>
                  <a:pt x="1538039" y="-20127"/>
                  <a:pt x="1639508" y="-2719"/>
                  <a:pt x="1810515" y="0"/>
                </a:cubicBezTo>
                <a:cubicBezTo>
                  <a:pt x="1848963" y="464"/>
                  <a:pt x="1905223" y="31811"/>
                  <a:pt x="1900517" y="90002"/>
                </a:cubicBezTo>
                <a:cubicBezTo>
                  <a:pt x="1902103" y="206242"/>
                  <a:pt x="1911643" y="301308"/>
                  <a:pt x="1900517" y="449998"/>
                </a:cubicBezTo>
                <a:cubicBezTo>
                  <a:pt x="1905335" y="509244"/>
                  <a:pt x="1855501" y="542489"/>
                  <a:pt x="1810515" y="540000"/>
                </a:cubicBezTo>
                <a:cubicBezTo>
                  <a:pt x="1650478" y="551623"/>
                  <a:pt x="1459965" y="524155"/>
                  <a:pt x="1219806" y="540000"/>
                </a:cubicBezTo>
                <a:cubicBezTo>
                  <a:pt x="979647" y="555845"/>
                  <a:pt x="861666" y="563533"/>
                  <a:pt x="697917" y="540000"/>
                </a:cubicBezTo>
                <a:cubicBezTo>
                  <a:pt x="534168" y="516467"/>
                  <a:pt x="385447" y="521038"/>
                  <a:pt x="90002" y="540000"/>
                </a:cubicBezTo>
                <a:cubicBezTo>
                  <a:pt x="43417" y="541093"/>
                  <a:pt x="1497" y="504749"/>
                  <a:pt x="0" y="449998"/>
                </a:cubicBezTo>
                <a:cubicBezTo>
                  <a:pt x="10345" y="295588"/>
                  <a:pt x="-123" y="200971"/>
                  <a:pt x="0" y="90002"/>
                </a:cubicBezTo>
                <a:close/>
              </a:path>
              <a:path w="1900517" h="540000" stroke="0" extrusionOk="0">
                <a:moveTo>
                  <a:pt x="0" y="90002"/>
                </a:moveTo>
                <a:cubicBezTo>
                  <a:pt x="-9037" y="34721"/>
                  <a:pt x="35995" y="1614"/>
                  <a:pt x="90002" y="0"/>
                </a:cubicBezTo>
                <a:cubicBezTo>
                  <a:pt x="219763" y="-21702"/>
                  <a:pt x="487792" y="24698"/>
                  <a:pt x="697917" y="0"/>
                </a:cubicBezTo>
                <a:cubicBezTo>
                  <a:pt x="908043" y="-24698"/>
                  <a:pt x="1045868" y="12713"/>
                  <a:pt x="1254216" y="0"/>
                </a:cubicBezTo>
                <a:cubicBezTo>
                  <a:pt x="1462564" y="-12713"/>
                  <a:pt x="1541174" y="20842"/>
                  <a:pt x="1810515" y="0"/>
                </a:cubicBezTo>
                <a:cubicBezTo>
                  <a:pt x="1858408" y="-5842"/>
                  <a:pt x="1902763" y="31985"/>
                  <a:pt x="1900517" y="90002"/>
                </a:cubicBezTo>
                <a:cubicBezTo>
                  <a:pt x="1914497" y="164508"/>
                  <a:pt x="1899017" y="283030"/>
                  <a:pt x="1900517" y="449998"/>
                </a:cubicBezTo>
                <a:cubicBezTo>
                  <a:pt x="1899830" y="493152"/>
                  <a:pt x="1853076" y="549931"/>
                  <a:pt x="1810515" y="540000"/>
                </a:cubicBezTo>
                <a:cubicBezTo>
                  <a:pt x="1567553" y="524027"/>
                  <a:pt x="1393910" y="545331"/>
                  <a:pt x="1271421" y="540000"/>
                </a:cubicBezTo>
                <a:cubicBezTo>
                  <a:pt x="1148932" y="534669"/>
                  <a:pt x="822531" y="559426"/>
                  <a:pt x="697917" y="540000"/>
                </a:cubicBezTo>
                <a:cubicBezTo>
                  <a:pt x="573303" y="520574"/>
                  <a:pt x="253301" y="550202"/>
                  <a:pt x="90002" y="540000"/>
                </a:cubicBezTo>
                <a:cubicBezTo>
                  <a:pt x="47510" y="532870"/>
                  <a:pt x="3274" y="497594"/>
                  <a:pt x="0" y="449998"/>
                </a:cubicBezTo>
                <a:cubicBezTo>
                  <a:pt x="2024" y="275979"/>
                  <a:pt x="-7437" y="162155"/>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Offshore events</a:t>
            </a:r>
          </a:p>
        </p:txBody>
      </p:sp>
      <p:sp>
        <p:nvSpPr>
          <p:cNvPr id="24" name="Rounded Rectangle 23">
            <a:extLst>
              <a:ext uri="{FF2B5EF4-FFF2-40B4-BE49-F238E27FC236}">
                <a16:creationId xmlns:a16="http://schemas.microsoft.com/office/drawing/2014/main" id="{450352E6-2F1A-AA67-845D-473CDB31A16A}"/>
              </a:ext>
            </a:extLst>
          </p:cNvPr>
          <p:cNvSpPr/>
          <p:nvPr/>
        </p:nvSpPr>
        <p:spPr>
          <a:xfrm>
            <a:off x="835345" y="5356948"/>
            <a:ext cx="3155571" cy="540000"/>
          </a:xfrm>
          <a:custGeom>
            <a:avLst/>
            <a:gdLst>
              <a:gd name="csX0" fmla="*/ 0 w 3155571"/>
              <a:gd name="csY0" fmla="*/ 90002 h 540000"/>
              <a:gd name="csX1" fmla="*/ 90002 w 3155571"/>
              <a:gd name="csY1" fmla="*/ 0 h 540000"/>
              <a:gd name="csX2" fmla="*/ 625604 w 3155571"/>
              <a:gd name="csY2" fmla="*/ 0 h 540000"/>
              <a:gd name="csX3" fmla="*/ 1220717 w 3155571"/>
              <a:gd name="csY3" fmla="*/ 0 h 540000"/>
              <a:gd name="csX4" fmla="*/ 1756320 w 3155571"/>
              <a:gd name="csY4" fmla="*/ 0 h 540000"/>
              <a:gd name="csX5" fmla="*/ 2351433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500211 w 3155571"/>
              <a:gd name="csY10" fmla="*/ 540000 h 540000"/>
              <a:gd name="csX11" fmla="*/ 1994365 w 3155571"/>
              <a:gd name="csY11" fmla="*/ 540000 h 540000"/>
              <a:gd name="csX12" fmla="*/ 1369496 w 3155571"/>
              <a:gd name="csY12" fmla="*/ 540000 h 540000"/>
              <a:gd name="csX13" fmla="*/ 833894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620" y="41404"/>
                  <a:pt x="42369" y="1541"/>
                  <a:pt x="90002" y="0"/>
                </a:cubicBezTo>
                <a:cubicBezTo>
                  <a:pt x="223989" y="1661"/>
                  <a:pt x="484767" y="6480"/>
                  <a:pt x="625604" y="0"/>
                </a:cubicBezTo>
                <a:cubicBezTo>
                  <a:pt x="766441" y="-6480"/>
                  <a:pt x="1014499" y="-7204"/>
                  <a:pt x="1220717" y="0"/>
                </a:cubicBezTo>
                <a:cubicBezTo>
                  <a:pt x="1426935" y="7204"/>
                  <a:pt x="1642024" y="-14423"/>
                  <a:pt x="1756320" y="0"/>
                </a:cubicBezTo>
                <a:cubicBezTo>
                  <a:pt x="1870616" y="14423"/>
                  <a:pt x="2187364" y="-15181"/>
                  <a:pt x="2351433" y="0"/>
                </a:cubicBezTo>
                <a:cubicBezTo>
                  <a:pt x="2515502" y="15181"/>
                  <a:pt x="2902673" y="-13819"/>
                  <a:pt x="3065569" y="0"/>
                </a:cubicBezTo>
                <a:cubicBezTo>
                  <a:pt x="3117702" y="-7462"/>
                  <a:pt x="3156547" y="41350"/>
                  <a:pt x="3155571" y="90002"/>
                </a:cubicBezTo>
                <a:cubicBezTo>
                  <a:pt x="3160814" y="179923"/>
                  <a:pt x="3166453" y="376404"/>
                  <a:pt x="3155571" y="449998"/>
                </a:cubicBezTo>
                <a:cubicBezTo>
                  <a:pt x="3155168" y="491350"/>
                  <a:pt x="3117210" y="541218"/>
                  <a:pt x="3065569" y="540000"/>
                </a:cubicBezTo>
                <a:cubicBezTo>
                  <a:pt x="2858706" y="543446"/>
                  <a:pt x="2701238" y="528015"/>
                  <a:pt x="2500211" y="540000"/>
                </a:cubicBezTo>
                <a:cubicBezTo>
                  <a:pt x="2299184" y="551985"/>
                  <a:pt x="2183146" y="551799"/>
                  <a:pt x="1994365" y="540000"/>
                </a:cubicBezTo>
                <a:cubicBezTo>
                  <a:pt x="1805584" y="528201"/>
                  <a:pt x="1572353" y="535880"/>
                  <a:pt x="1369496" y="540000"/>
                </a:cubicBezTo>
                <a:cubicBezTo>
                  <a:pt x="1166639" y="544120"/>
                  <a:pt x="1088826" y="535335"/>
                  <a:pt x="833894" y="540000"/>
                </a:cubicBezTo>
                <a:cubicBezTo>
                  <a:pt x="578962" y="544665"/>
                  <a:pt x="401292" y="536687"/>
                  <a:pt x="90002" y="540000"/>
                </a:cubicBezTo>
                <a:cubicBezTo>
                  <a:pt x="42276" y="531356"/>
                  <a:pt x="-6533" y="499494"/>
                  <a:pt x="0" y="449998"/>
                </a:cubicBezTo>
                <a:cubicBezTo>
                  <a:pt x="-2774" y="358857"/>
                  <a:pt x="15469" y="180620"/>
                  <a:pt x="0" y="90002"/>
                </a:cubicBezTo>
                <a:close/>
              </a:path>
              <a:path w="3155571" h="540000" stroke="0" extrusionOk="0">
                <a:moveTo>
                  <a:pt x="0" y="90002"/>
                </a:moveTo>
                <a:cubicBezTo>
                  <a:pt x="-9037" y="34721"/>
                  <a:pt x="35995" y="1614"/>
                  <a:pt x="90002" y="0"/>
                </a:cubicBezTo>
                <a:cubicBezTo>
                  <a:pt x="367811" y="-23588"/>
                  <a:pt x="521729" y="1005"/>
                  <a:pt x="744627" y="0"/>
                </a:cubicBezTo>
                <a:cubicBezTo>
                  <a:pt x="967525" y="-1005"/>
                  <a:pt x="1111997" y="-11893"/>
                  <a:pt x="1309984" y="0"/>
                </a:cubicBezTo>
                <a:cubicBezTo>
                  <a:pt x="1507971" y="11893"/>
                  <a:pt x="1662593" y="23350"/>
                  <a:pt x="1845587" y="0"/>
                </a:cubicBezTo>
                <a:cubicBezTo>
                  <a:pt x="2028581" y="-23350"/>
                  <a:pt x="2228962" y="6615"/>
                  <a:pt x="2470456" y="0"/>
                </a:cubicBezTo>
                <a:cubicBezTo>
                  <a:pt x="2711950" y="-6615"/>
                  <a:pt x="2886448" y="-29131"/>
                  <a:pt x="3065569" y="0"/>
                </a:cubicBezTo>
                <a:cubicBezTo>
                  <a:pt x="3120916" y="-9178"/>
                  <a:pt x="3151534" y="43842"/>
                  <a:pt x="3155571" y="90002"/>
                </a:cubicBezTo>
                <a:cubicBezTo>
                  <a:pt x="3161409" y="175369"/>
                  <a:pt x="3165517" y="305738"/>
                  <a:pt x="3155571" y="449998"/>
                </a:cubicBezTo>
                <a:cubicBezTo>
                  <a:pt x="3162892" y="501465"/>
                  <a:pt x="3104796" y="538305"/>
                  <a:pt x="3065569" y="540000"/>
                </a:cubicBezTo>
                <a:cubicBezTo>
                  <a:pt x="2866141" y="557867"/>
                  <a:pt x="2721738" y="527744"/>
                  <a:pt x="2470456" y="540000"/>
                </a:cubicBezTo>
                <a:cubicBezTo>
                  <a:pt x="2219174" y="552256"/>
                  <a:pt x="2088762" y="513170"/>
                  <a:pt x="1905098" y="540000"/>
                </a:cubicBezTo>
                <a:cubicBezTo>
                  <a:pt x="1721434" y="566830"/>
                  <a:pt x="1416084" y="513017"/>
                  <a:pt x="1250473" y="540000"/>
                </a:cubicBezTo>
                <a:cubicBezTo>
                  <a:pt x="1084862" y="566983"/>
                  <a:pt x="828237" y="524510"/>
                  <a:pt x="595848" y="540000"/>
                </a:cubicBezTo>
                <a:cubicBezTo>
                  <a:pt x="363460" y="555490"/>
                  <a:pt x="323523" y="56240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Morgado et al. 2026 </a:t>
            </a:r>
            <a:r>
              <a:rPr lang="en-PT" sz="1200" dirty="0">
                <a:solidFill>
                  <a:srgbClr val="002060"/>
                </a:solidFill>
                <a:latin typeface="Titillium Web" pitchFamily="2" charset="77"/>
              </a:rPr>
              <a:t>(offshore)</a:t>
            </a:r>
            <a:endParaRPr lang="en-PT" dirty="0">
              <a:solidFill>
                <a:srgbClr val="002060"/>
              </a:solidFill>
              <a:latin typeface="Titillium Web" pitchFamily="2" charset="77"/>
            </a:endParaRPr>
          </a:p>
        </p:txBody>
      </p:sp>
      <p:cxnSp>
        <p:nvCxnSpPr>
          <p:cNvPr id="18" name="Straight Arrow Connector 17">
            <a:extLst>
              <a:ext uri="{FF2B5EF4-FFF2-40B4-BE49-F238E27FC236}">
                <a16:creationId xmlns:a16="http://schemas.microsoft.com/office/drawing/2014/main" id="{3786AAA9-B035-1309-F125-E4AF85F31F9B}"/>
              </a:ext>
            </a:extLst>
          </p:cNvPr>
          <p:cNvCxnSpPr>
            <a:cxnSpLocks/>
          </p:cNvCxnSpPr>
          <p:nvPr/>
        </p:nvCxnSpPr>
        <p:spPr>
          <a:xfrm>
            <a:off x="2412014" y="3125955"/>
            <a:ext cx="0" cy="336091"/>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C5B101B-13FF-C7F1-0376-DC047619F398}"/>
              </a:ext>
            </a:extLst>
          </p:cNvPr>
          <p:cNvCxnSpPr>
            <a:cxnSpLocks/>
          </p:cNvCxnSpPr>
          <p:nvPr/>
        </p:nvCxnSpPr>
        <p:spPr>
          <a:xfrm>
            <a:off x="2403657" y="5043626"/>
            <a:ext cx="0" cy="31332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pic>
        <p:nvPicPr>
          <p:cNvPr id="34" name="Picture 33" descr="A map of the portuguese region&#10;&#10;AI-generated content may be incorrect.">
            <a:extLst>
              <a:ext uri="{FF2B5EF4-FFF2-40B4-BE49-F238E27FC236}">
                <a16:creationId xmlns:a16="http://schemas.microsoft.com/office/drawing/2014/main" id="{B5A57D63-1E9C-6EAE-AD9C-73874A7E3280}"/>
              </a:ext>
            </a:extLst>
          </p:cNvPr>
          <p:cNvPicPr>
            <a:picLocks noChangeAspect="1"/>
          </p:cNvPicPr>
          <p:nvPr/>
        </p:nvPicPr>
        <p:blipFill>
          <a:blip r:embed="rId2"/>
          <a:srcRect t="3031"/>
          <a:stretch>
            <a:fillRect/>
          </a:stretch>
        </p:blipFill>
        <p:spPr>
          <a:xfrm>
            <a:off x="6719850" y="103929"/>
            <a:ext cx="4217525" cy="6650142"/>
          </a:xfrm>
          <a:prstGeom prst="rect">
            <a:avLst/>
          </a:prstGeom>
        </p:spPr>
      </p:pic>
    </p:spTree>
    <p:extLst>
      <p:ext uri="{BB962C8B-B14F-4D97-AF65-F5344CB8AC3E}">
        <p14:creationId xmlns:p14="http://schemas.microsoft.com/office/powerpoint/2010/main" val="4121539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569CCB-6F2C-0485-3634-365C89A85BE8}"/>
            </a:ext>
          </a:extLst>
        </p:cNvPr>
        <p:cNvGrpSpPr/>
        <p:nvPr/>
      </p:nvGrpSpPr>
      <p:grpSpPr>
        <a:xfrm>
          <a:off x="0" y="0"/>
          <a:ext cx="0" cy="0"/>
          <a:chOff x="0" y="0"/>
          <a:chExt cx="0" cy="0"/>
        </a:xfrm>
      </p:grpSpPr>
      <p:pic>
        <p:nvPicPr>
          <p:cNvPr id="5" name="Picture 4" descr="A map of the region&#10;&#10;AI-generated content may be incorrect.">
            <a:extLst>
              <a:ext uri="{FF2B5EF4-FFF2-40B4-BE49-F238E27FC236}">
                <a16:creationId xmlns:a16="http://schemas.microsoft.com/office/drawing/2014/main" id="{E9A593E5-B28D-78BE-9DD2-3CB48F4E624F}"/>
              </a:ext>
            </a:extLst>
          </p:cNvPr>
          <p:cNvPicPr>
            <a:picLocks noChangeAspect="1"/>
          </p:cNvPicPr>
          <p:nvPr/>
        </p:nvPicPr>
        <p:blipFill>
          <a:blip r:embed="rId2"/>
          <a:srcRect t="3031"/>
          <a:stretch>
            <a:fillRect/>
          </a:stretch>
        </p:blipFill>
        <p:spPr>
          <a:xfrm>
            <a:off x="6719848" y="103927"/>
            <a:ext cx="4217525" cy="6650143"/>
          </a:xfrm>
          <a:prstGeom prst="rect">
            <a:avLst/>
          </a:prstGeom>
        </p:spPr>
      </p:pic>
      <p:sp>
        <p:nvSpPr>
          <p:cNvPr id="7" name="TextBox 6">
            <a:extLst>
              <a:ext uri="{FF2B5EF4-FFF2-40B4-BE49-F238E27FC236}">
                <a16:creationId xmlns:a16="http://schemas.microsoft.com/office/drawing/2014/main" id="{A494A27B-92B1-8BDF-C5C1-203A99A15CDB}"/>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2D46B553-8BA6-4C69-3C3B-83789C050B98}"/>
              </a:ext>
            </a:extLst>
          </p:cNvPr>
          <p:cNvSpPr txBox="1"/>
          <p:nvPr/>
        </p:nvSpPr>
        <p:spPr>
          <a:xfrm>
            <a:off x="188260" y="1290918"/>
            <a:ext cx="4410634" cy="646331"/>
          </a:xfrm>
          <a:prstGeom prst="rect">
            <a:avLst/>
          </a:prstGeom>
          <a:noFill/>
        </p:spPr>
        <p:txBody>
          <a:bodyPr wrap="square" rtlCol="0">
            <a:spAutoFit/>
          </a:bodyPr>
          <a:lstStyle/>
          <a:p>
            <a:r>
              <a:rPr lang="en-PT" dirty="0">
                <a:solidFill>
                  <a:srgbClr val="002060"/>
                </a:solidFill>
                <a:latin typeface="Titillium Web" pitchFamily="2" charset="77"/>
              </a:rPr>
              <a:t>Seismic hazard (PGA for the 475 years return period) for mainland Portugal, using:</a:t>
            </a:r>
          </a:p>
        </p:txBody>
      </p:sp>
      <p:sp>
        <p:nvSpPr>
          <p:cNvPr id="2" name="Rounded Rectangle 1">
            <a:extLst>
              <a:ext uri="{FF2B5EF4-FFF2-40B4-BE49-F238E27FC236}">
                <a16:creationId xmlns:a16="http://schemas.microsoft.com/office/drawing/2014/main" id="{E63BEA30-4122-6CE8-D9CE-8242C93C4019}"/>
              </a:ext>
            </a:extLst>
          </p:cNvPr>
          <p:cNvSpPr/>
          <p:nvPr/>
        </p:nvSpPr>
        <p:spPr>
          <a:xfrm>
            <a:off x="1462872" y="2585955"/>
            <a:ext cx="1900517" cy="540000"/>
          </a:xfrm>
          <a:custGeom>
            <a:avLst/>
            <a:gdLst>
              <a:gd name="csX0" fmla="*/ 0 w 1900517"/>
              <a:gd name="csY0" fmla="*/ 90002 h 540000"/>
              <a:gd name="csX1" fmla="*/ 90002 w 1900517"/>
              <a:gd name="csY1" fmla="*/ 0 h 540000"/>
              <a:gd name="csX2" fmla="*/ 697917 w 1900517"/>
              <a:gd name="csY2" fmla="*/ 0 h 540000"/>
              <a:gd name="csX3" fmla="*/ 1237011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88626 w 1900517"/>
              <a:gd name="csY8" fmla="*/ 540000 h 540000"/>
              <a:gd name="csX9" fmla="*/ 749532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087" y="38649"/>
                  <a:pt x="43463" y="-6345"/>
                  <a:pt x="90002" y="0"/>
                </a:cubicBezTo>
                <a:cubicBezTo>
                  <a:pt x="355467" y="-11402"/>
                  <a:pt x="418479" y="-24424"/>
                  <a:pt x="697917" y="0"/>
                </a:cubicBezTo>
                <a:cubicBezTo>
                  <a:pt x="977355" y="24424"/>
                  <a:pt x="1101179" y="14266"/>
                  <a:pt x="1237011" y="0"/>
                </a:cubicBezTo>
                <a:cubicBezTo>
                  <a:pt x="1372843" y="-14266"/>
                  <a:pt x="1674162" y="5036"/>
                  <a:pt x="1810515" y="0"/>
                </a:cubicBezTo>
                <a:cubicBezTo>
                  <a:pt x="1855025" y="4326"/>
                  <a:pt x="1897497" y="36661"/>
                  <a:pt x="1900517" y="90002"/>
                </a:cubicBezTo>
                <a:cubicBezTo>
                  <a:pt x="1908869" y="201270"/>
                  <a:pt x="1883065" y="375920"/>
                  <a:pt x="1900517" y="449998"/>
                </a:cubicBezTo>
                <a:cubicBezTo>
                  <a:pt x="1900670" y="506052"/>
                  <a:pt x="1855613" y="532917"/>
                  <a:pt x="1810515" y="540000"/>
                </a:cubicBezTo>
                <a:cubicBezTo>
                  <a:pt x="1637650" y="563456"/>
                  <a:pt x="1547323" y="545042"/>
                  <a:pt x="1288626" y="540000"/>
                </a:cubicBezTo>
                <a:cubicBezTo>
                  <a:pt x="1029929" y="534958"/>
                  <a:pt x="996056" y="542827"/>
                  <a:pt x="749532" y="540000"/>
                </a:cubicBezTo>
                <a:cubicBezTo>
                  <a:pt x="503008" y="537173"/>
                  <a:pt x="276055" y="541826"/>
                  <a:pt x="90002" y="540000"/>
                </a:cubicBezTo>
                <a:cubicBezTo>
                  <a:pt x="35954" y="530914"/>
                  <a:pt x="-10400" y="498643"/>
                  <a:pt x="0" y="449998"/>
                </a:cubicBezTo>
                <a:cubicBezTo>
                  <a:pt x="-3029" y="314961"/>
                  <a:pt x="11156" y="206338"/>
                  <a:pt x="0" y="90002"/>
                </a:cubicBezTo>
                <a:close/>
              </a:path>
              <a:path w="1900517" h="540000" stroke="0" extrusionOk="0">
                <a:moveTo>
                  <a:pt x="0" y="90002"/>
                </a:moveTo>
                <a:cubicBezTo>
                  <a:pt x="931" y="39480"/>
                  <a:pt x="37705" y="-655"/>
                  <a:pt x="90002" y="0"/>
                </a:cubicBezTo>
                <a:cubicBezTo>
                  <a:pt x="241798" y="-8962"/>
                  <a:pt x="420135" y="11875"/>
                  <a:pt x="611891" y="0"/>
                </a:cubicBezTo>
                <a:cubicBezTo>
                  <a:pt x="803647" y="-11875"/>
                  <a:pt x="917558" y="8808"/>
                  <a:pt x="1133780" y="0"/>
                </a:cubicBezTo>
                <a:cubicBezTo>
                  <a:pt x="1350002" y="-8808"/>
                  <a:pt x="1500364" y="-33721"/>
                  <a:pt x="1810515" y="0"/>
                </a:cubicBezTo>
                <a:cubicBezTo>
                  <a:pt x="1862168" y="12259"/>
                  <a:pt x="1898437" y="28231"/>
                  <a:pt x="1900517" y="90002"/>
                </a:cubicBezTo>
                <a:cubicBezTo>
                  <a:pt x="1915217" y="215299"/>
                  <a:pt x="1886176" y="303641"/>
                  <a:pt x="1900517" y="449998"/>
                </a:cubicBezTo>
                <a:cubicBezTo>
                  <a:pt x="1903078" y="500268"/>
                  <a:pt x="1849728" y="546152"/>
                  <a:pt x="1810515" y="540000"/>
                </a:cubicBezTo>
                <a:cubicBezTo>
                  <a:pt x="1691714" y="549468"/>
                  <a:pt x="1480693" y="559524"/>
                  <a:pt x="1271421" y="540000"/>
                </a:cubicBezTo>
                <a:cubicBezTo>
                  <a:pt x="1062149" y="520476"/>
                  <a:pt x="921989" y="542663"/>
                  <a:pt x="732327" y="540000"/>
                </a:cubicBezTo>
                <a:cubicBezTo>
                  <a:pt x="542665" y="537337"/>
                  <a:pt x="228329" y="549481"/>
                  <a:pt x="90002" y="540000"/>
                </a:cubicBezTo>
                <a:cubicBezTo>
                  <a:pt x="43509" y="538419"/>
                  <a:pt x="1900" y="492535"/>
                  <a:pt x="0" y="449998"/>
                </a:cubicBezTo>
                <a:cubicBezTo>
                  <a:pt x="-318" y="372350"/>
                  <a:pt x="8881" y="231793"/>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82505698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Inland events</a:t>
            </a:r>
          </a:p>
        </p:txBody>
      </p:sp>
      <p:sp>
        <p:nvSpPr>
          <p:cNvPr id="3" name="Rounded Rectangle 2">
            <a:extLst>
              <a:ext uri="{FF2B5EF4-FFF2-40B4-BE49-F238E27FC236}">
                <a16:creationId xmlns:a16="http://schemas.microsoft.com/office/drawing/2014/main" id="{6A9BB1D9-309A-EC02-EF2F-3829ED9B7A64}"/>
              </a:ext>
            </a:extLst>
          </p:cNvPr>
          <p:cNvSpPr/>
          <p:nvPr/>
        </p:nvSpPr>
        <p:spPr>
          <a:xfrm>
            <a:off x="835343" y="3462046"/>
            <a:ext cx="3155575" cy="540000"/>
          </a:xfrm>
          <a:custGeom>
            <a:avLst/>
            <a:gdLst>
              <a:gd name="csX0" fmla="*/ 0 w 3155575"/>
              <a:gd name="csY0" fmla="*/ 90002 h 540000"/>
              <a:gd name="csX1" fmla="*/ 90002 w 3155575"/>
              <a:gd name="csY1" fmla="*/ 0 h 540000"/>
              <a:gd name="csX2" fmla="*/ 625605 w 3155575"/>
              <a:gd name="csY2" fmla="*/ 0 h 540000"/>
              <a:gd name="csX3" fmla="*/ 1220719 w 3155575"/>
              <a:gd name="csY3" fmla="*/ 0 h 540000"/>
              <a:gd name="csX4" fmla="*/ 1756322 w 3155575"/>
              <a:gd name="csY4" fmla="*/ 0 h 540000"/>
              <a:gd name="csX5" fmla="*/ 2351436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500215 w 3155575"/>
              <a:gd name="csY10" fmla="*/ 540000 h 540000"/>
              <a:gd name="csX11" fmla="*/ 1994367 w 3155575"/>
              <a:gd name="csY11" fmla="*/ 540000 h 540000"/>
              <a:gd name="csX12" fmla="*/ 1369498 w 3155575"/>
              <a:gd name="csY12" fmla="*/ 540000 h 540000"/>
              <a:gd name="csX13" fmla="*/ 833895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620" y="41404"/>
                  <a:pt x="42369" y="1541"/>
                  <a:pt x="90002" y="0"/>
                </a:cubicBezTo>
                <a:cubicBezTo>
                  <a:pt x="216137" y="1015"/>
                  <a:pt x="479248" y="6286"/>
                  <a:pt x="625605" y="0"/>
                </a:cubicBezTo>
                <a:cubicBezTo>
                  <a:pt x="771962" y="-6286"/>
                  <a:pt x="1014105" y="-7901"/>
                  <a:pt x="1220719" y="0"/>
                </a:cubicBezTo>
                <a:cubicBezTo>
                  <a:pt x="1427333" y="7901"/>
                  <a:pt x="1642026" y="-14423"/>
                  <a:pt x="1756322" y="0"/>
                </a:cubicBezTo>
                <a:cubicBezTo>
                  <a:pt x="1870618" y="14423"/>
                  <a:pt x="2186052" y="-16973"/>
                  <a:pt x="2351436" y="0"/>
                </a:cubicBezTo>
                <a:cubicBezTo>
                  <a:pt x="2516820" y="16973"/>
                  <a:pt x="2899000" y="-18730"/>
                  <a:pt x="3065573" y="0"/>
                </a:cubicBezTo>
                <a:cubicBezTo>
                  <a:pt x="3117706" y="-7462"/>
                  <a:pt x="3156551" y="41350"/>
                  <a:pt x="3155575" y="90002"/>
                </a:cubicBezTo>
                <a:cubicBezTo>
                  <a:pt x="3160818" y="179923"/>
                  <a:pt x="3166457" y="376404"/>
                  <a:pt x="3155575" y="449998"/>
                </a:cubicBezTo>
                <a:cubicBezTo>
                  <a:pt x="3155172" y="491350"/>
                  <a:pt x="3117214" y="541218"/>
                  <a:pt x="3065573" y="540000"/>
                </a:cubicBezTo>
                <a:cubicBezTo>
                  <a:pt x="2858710" y="543446"/>
                  <a:pt x="2701242" y="528015"/>
                  <a:pt x="2500215" y="540000"/>
                </a:cubicBezTo>
                <a:cubicBezTo>
                  <a:pt x="2299188" y="551985"/>
                  <a:pt x="2197222" y="514714"/>
                  <a:pt x="1994367" y="540000"/>
                </a:cubicBezTo>
                <a:cubicBezTo>
                  <a:pt x="1791512" y="565286"/>
                  <a:pt x="1572355" y="535880"/>
                  <a:pt x="1369498" y="540000"/>
                </a:cubicBezTo>
                <a:cubicBezTo>
                  <a:pt x="1166641" y="544120"/>
                  <a:pt x="1095232" y="542631"/>
                  <a:pt x="833895" y="540000"/>
                </a:cubicBezTo>
                <a:cubicBezTo>
                  <a:pt x="572558" y="537369"/>
                  <a:pt x="405931" y="541985"/>
                  <a:pt x="90002" y="540000"/>
                </a:cubicBezTo>
                <a:cubicBezTo>
                  <a:pt x="42276" y="531356"/>
                  <a:pt x="-6533" y="499494"/>
                  <a:pt x="0" y="449998"/>
                </a:cubicBezTo>
                <a:cubicBezTo>
                  <a:pt x="-2774" y="358857"/>
                  <a:pt x="15469" y="180620"/>
                  <a:pt x="0" y="90002"/>
                </a:cubicBezTo>
                <a:close/>
              </a:path>
              <a:path w="3155575" h="540000" stroke="0" extrusionOk="0">
                <a:moveTo>
                  <a:pt x="0" y="90002"/>
                </a:moveTo>
                <a:cubicBezTo>
                  <a:pt x="-9037" y="34721"/>
                  <a:pt x="35995" y="1614"/>
                  <a:pt x="90002" y="0"/>
                </a:cubicBezTo>
                <a:cubicBezTo>
                  <a:pt x="363867" y="-28478"/>
                  <a:pt x="517290" y="-2228"/>
                  <a:pt x="744628" y="0"/>
                </a:cubicBezTo>
                <a:cubicBezTo>
                  <a:pt x="971966" y="2228"/>
                  <a:pt x="1105994" y="-13646"/>
                  <a:pt x="1309986" y="0"/>
                </a:cubicBezTo>
                <a:cubicBezTo>
                  <a:pt x="1513978" y="13646"/>
                  <a:pt x="1662595" y="23350"/>
                  <a:pt x="1845589" y="0"/>
                </a:cubicBezTo>
                <a:cubicBezTo>
                  <a:pt x="2028583" y="-23350"/>
                  <a:pt x="2224723" y="4861"/>
                  <a:pt x="2470459" y="0"/>
                </a:cubicBezTo>
                <a:cubicBezTo>
                  <a:pt x="2716195" y="-4861"/>
                  <a:pt x="2881533" y="26021"/>
                  <a:pt x="3065573" y="0"/>
                </a:cubicBezTo>
                <a:cubicBezTo>
                  <a:pt x="3120920" y="-9178"/>
                  <a:pt x="3151538" y="43842"/>
                  <a:pt x="3155575" y="90002"/>
                </a:cubicBezTo>
                <a:cubicBezTo>
                  <a:pt x="3161413" y="175369"/>
                  <a:pt x="3165521" y="305738"/>
                  <a:pt x="3155575" y="449998"/>
                </a:cubicBezTo>
                <a:cubicBezTo>
                  <a:pt x="3162896" y="501465"/>
                  <a:pt x="3104800" y="538305"/>
                  <a:pt x="3065573" y="540000"/>
                </a:cubicBezTo>
                <a:cubicBezTo>
                  <a:pt x="2871117" y="560054"/>
                  <a:pt x="2722688" y="530462"/>
                  <a:pt x="2470459" y="540000"/>
                </a:cubicBezTo>
                <a:cubicBezTo>
                  <a:pt x="2218230" y="549538"/>
                  <a:pt x="2091719" y="517994"/>
                  <a:pt x="1905100" y="540000"/>
                </a:cubicBezTo>
                <a:cubicBezTo>
                  <a:pt x="1718481" y="562006"/>
                  <a:pt x="1416086" y="513017"/>
                  <a:pt x="1250475" y="540000"/>
                </a:cubicBezTo>
                <a:cubicBezTo>
                  <a:pt x="1084864" y="566983"/>
                  <a:pt x="834463" y="525396"/>
                  <a:pt x="595849" y="540000"/>
                </a:cubicBezTo>
                <a:cubicBezTo>
                  <a:pt x="357235" y="554604"/>
                  <a:pt x="327179" y="56319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Taherian et al. 2026 </a:t>
            </a:r>
            <a:r>
              <a:rPr lang="en-PT" sz="1100" dirty="0">
                <a:solidFill>
                  <a:srgbClr val="002060"/>
                </a:solidFill>
                <a:latin typeface="Titillium Web" pitchFamily="2" charset="77"/>
              </a:rPr>
              <a:t>(inland)</a:t>
            </a:r>
            <a:endParaRPr lang="en-PT" dirty="0">
              <a:solidFill>
                <a:srgbClr val="002060"/>
              </a:solidFill>
              <a:latin typeface="Titillium Web" pitchFamily="2" charset="77"/>
            </a:endParaRPr>
          </a:p>
        </p:txBody>
      </p:sp>
      <p:sp>
        <p:nvSpPr>
          <p:cNvPr id="22" name="Rounded Rectangle 21">
            <a:extLst>
              <a:ext uri="{FF2B5EF4-FFF2-40B4-BE49-F238E27FC236}">
                <a16:creationId xmlns:a16="http://schemas.microsoft.com/office/drawing/2014/main" id="{D1D44EA9-9EE0-7B22-A4A7-1A2CC8419BBE}"/>
              </a:ext>
            </a:extLst>
          </p:cNvPr>
          <p:cNvSpPr/>
          <p:nvPr/>
        </p:nvSpPr>
        <p:spPr>
          <a:xfrm>
            <a:off x="1462872" y="4503626"/>
            <a:ext cx="1900517" cy="540000"/>
          </a:xfrm>
          <a:custGeom>
            <a:avLst/>
            <a:gdLst>
              <a:gd name="csX0" fmla="*/ 0 w 1900517"/>
              <a:gd name="csY0" fmla="*/ 90002 h 540000"/>
              <a:gd name="csX1" fmla="*/ 90002 w 1900517"/>
              <a:gd name="csY1" fmla="*/ 0 h 540000"/>
              <a:gd name="csX2" fmla="*/ 680711 w 1900517"/>
              <a:gd name="csY2" fmla="*/ 0 h 540000"/>
              <a:gd name="csX3" fmla="*/ 1254216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19806 w 1900517"/>
              <a:gd name="csY8" fmla="*/ 540000 h 540000"/>
              <a:gd name="csX9" fmla="*/ 697917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603" y="41543"/>
                  <a:pt x="33146" y="-4933"/>
                  <a:pt x="90002" y="0"/>
                </a:cubicBezTo>
                <a:cubicBezTo>
                  <a:pt x="283034" y="3233"/>
                  <a:pt x="390086" y="29445"/>
                  <a:pt x="680711" y="0"/>
                </a:cubicBezTo>
                <a:cubicBezTo>
                  <a:pt x="971336" y="-29445"/>
                  <a:pt x="970393" y="20127"/>
                  <a:pt x="1254216" y="0"/>
                </a:cubicBezTo>
                <a:cubicBezTo>
                  <a:pt x="1538039" y="-20127"/>
                  <a:pt x="1639508" y="-2719"/>
                  <a:pt x="1810515" y="0"/>
                </a:cubicBezTo>
                <a:cubicBezTo>
                  <a:pt x="1848963" y="464"/>
                  <a:pt x="1905223" y="31811"/>
                  <a:pt x="1900517" y="90002"/>
                </a:cubicBezTo>
                <a:cubicBezTo>
                  <a:pt x="1902103" y="206242"/>
                  <a:pt x="1911643" y="301308"/>
                  <a:pt x="1900517" y="449998"/>
                </a:cubicBezTo>
                <a:cubicBezTo>
                  <a:pt x="1905335" y="509244"/>
                  <a:pt x="1855501" y="542489"/>
                  <a:pt x="1810515" y="540000"/>
                </a:cubicBezTo>
                <a:cubicBezTo>
                  <a:pt x="1650478" y="551623"/>
                  <a:pt x="1459965" y="524155"/>
                  <a:pt x="1219806" y="540000"/>
                </a:cubicBezTo>
                <a:cubicBezTo>
                  <a:pt x="979647" y="555845"/>
                  <a:pt x="861666" y="563533"/>
                  <a:pt x="697917" y="540000"/>
                </a:cubicBezTo>
                <a:cubicBezTo>
                  <a:pt x="534168" y="516467"/>
                  <a:pt x="385447" y="521038"/>
                  <a:pt x="90002" y="540000"/>
                </a:cubicBezTo>
                <a:cubicBezTo>
                  <a:pt x="43417" y="541093"/>
                  <a:pt x="1497" y="504749"/>
                  <a:pt x="0" y="449998"/>
                </a:cubicBezTo>
                <a:cubicBezTo>
                  <a:pt x="10345" y="295588"/>
                  <a:pt x="-123" y="200971"/>
                  <a:pt x="0" y="90002"/>
                </a:cubicBezTo>
                <a:close/>
              </a:path>
              <a:path w="1900517" h="540000" stroke="0" extrusionOk="0">
                <a:moveTo>
                  <a:pt x="0" y="90002"/>
                </a:moveTo>
                <a:cubicBezTo>
                  <a:pt x="-9037" y="34721"/>
                  <a:pt x="35995" y="1614"/>
                  <a:pt x="90002" y="0"/>
                </a:cubicBezTo>
                <a:cubicBezTo>
                  <a:pt x="219763" y="-21702"/>
                  <a:pt x="487792" y="24698"/>
                  <a:pt x="697917" y="0"/>
                </a:cubicBezTo>
                <a:cubicBezTo>
                  <a:pt x="908043" y="-24698"/>
                  <a:pt x="1045868" y="12713"/>
                  <a:pt x="1254216" y="0"/>
                </a:cubicBezTo>
                <a:cubicBezTo>
                  <a:pt x="1462564" y="-12713"/>
                  <a:pt x="1541174" y="20842"/>
                  <a:pt x="1810515" y="0"/>
                </a:cubicBezTo>
                <a:cubicBezTo>
                  <a:pt x="1858408" y="-5842"/>
                  <a:pt x="1902763" y="31985"/>
                  <a:pt x="1900517" y="90002"/>
                </a:cubicBezTo>
                <a:cubicBezTo>
                  <a:pt x="1914497" y="164508"/>
                  <a:pt x="1899017" y="283030"/>
                  <a:pt x="1900517" y="449998"/>
                </a:cubicBezTo>
                <a:cubicBezTo>
                  <a:pt x="1899830" y="493152"/>
                  <a:pt x="1853076" y="549931"/>
                  <a:pt x="1810515" y="540000"/>
                </a:cubicBezTo>
                <a:cubicBezTo>
                  <a:pt x="1567553" y="524027"/>
                  <a:pt x="1393910" y="545331"/>
                  <a:pt x="1271421" y="540000"/>
                </a:cubicBezTo>
                <a:cubicBezTo>
                  <a:pt x="1148932" y="534669"/>
                  <a:pt x="822531" y="559426"/>
                  <a:pt x="697917" y="540000"/>
                </a:cubicBezTo>
                <a:cubicBezTo>
                  <a:pt x="573303" y="520574"/>
                  <a:pt x="253301" y="550202"/>
                  <a:pt x="90002" y="540000"/>
                </a:cubicBezTo>
                <a:cubicBezTo>
                  <a:pt x="47510" y="532870"/>
                  <a:pt x="3274" y="497594"/>
                  <a:pt x="0" y="449998"/>
                </a:cubicBezTo>
                <a:cubicBezTo>
                  <a:pt x="2024" y="275979"/>
                  <a:pt x="-7437" y="162155"/>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Offshore events</a:t>
            </a:r>
          </a:p>
        </p:txBody>
      </p:sp>
      <p:sp>
        <p:nvSpPr>
          <p:cNvPr id="24" name="Rounded Rectangle 23">
            <a:extLst>
              <a:ext uri="{FF2B5EF4-FFF2-40B4-BE49-F238E27FC236}">
                <a16:creationId xmlns:a16="http://schemas.microsoft.com/office/drawing/2014/main" id="{54A8AC4A-8162-8119-AB37-D2A8BD7C7D14}"/>
              </a:ext>
            </a:extLst>
          </p:cNvPr>
          <p:cNvSpPr/>
          <p:nvPr/>
        </p:nvSpPr>
        <p:spPr>
          <a:xfrm>
            <a:off x="835345" y="5356948"/>
            <a:ext cx="3155571" cy="540000"/>
          </a:xfrm>
          <a:custGeom>
            <a:avLst/>
            <a:gdLst>
              <a:gd name="csX0" fmla="*/ 0 w 3155571"/>
              <a:gd name="csY0" fmla="*/ 90002 h 540000"/>
              <a:gd name="csX1" fmla="*/ 90002 w 3155571"/>
              <a:gd name="csY1" fmla="*/ 0 h 540000"/>
              <a:gd name="csX2" fmla="*/ 625604 w 3155571"/>
              <a:gd name="csY2" fmla="*/ 0 h 540000"/>
              <a:gd name="csX3" fmla="*/ 1220717 w 3155571"/>
              <a:gd name="csY3" fmla="*/ 0 h 540000"/>
              <a:gd name="csX4" fmla="*/ 1756320 w 3155571"/>
              <a:gd name="csY4" fmla="*/ 0 h 540000"/>
              <a:gd name="csX5" fmla="*/ 2351433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500211 w 3155571"/>
              <a:gd name="csY10" fmla="*/ 540000 h 540000"/>
              <a:gd name="csX11" fmla="*/ 1994365 w 3155571"/>
              <a:gd name="csY11" fmla="*/ 540000 h 540000"/>
              <a:gd name="csX12" fmla="*/ 1369496 w 3155571"/>
              <a:gd name="csY12" fmla="*/ 540000 h 540000"/>
              <a:gd name="csX13" fmla="*/ 833894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620" y="41404"/>
                  <a:pt x="42369" y="1541"/>
                  <a:pt x="90002" y="0"/>
                </a:cubicBezTo>
                <a:cubicBezTo>
                  <a:pt x="223989" y="1661"/>
                  <a:pt x="484767" y="6480"/>
                  <a:pt x="625604" y="0"/>
                </a:cubicBezTo>
                <a:cubicBezTo>
                  <a:pt x="766441" y="-6480"/>
                  <a:pt x="1014499" y="-7204"/>
                  <a:pt x="1220717" y="0"/>
                </a:cubicBezTo>
                <a:cubicBezTo>
                  <a:pt x="1426935" y="7204"/>
                  <a:pt x="1642024" y="-14423"/>
                  <a:pt x="1756320" y="0"/>
                </a:cubicBezTo>
                <a:cubicBezTo>
                  <a:pt x="1870616" y="14423"/>
                  <a:pt x="2187364" y="-15181"/>
                  <a:pt x="2351433" y="0"/>
                </a:cubicBezTo>
                <a:cubicBezTo>
                  <a:pt x="2515502" y="15181"/>
                  <a:pt x="2902673" y="-13819"/>
                  <a:pt x="3065569" y="0"/>
                </a:cubicBezTo>
                <a:cubicBezTo>
                  <a:pt x="3117702" y="-7462"/>
                  <a:pt x="3156547" y="41350"/>
                  <a:pt x="3155571" y="90002"/>
                </a:cubicBezTo>
                <a:cubicBezTo>
                  <a:pt x="3160814" y="179923"/>
                  <a:pt x="3166453" y="376404"/>
                  <a:pt x="3155571" y="449998"/>
                </a:cubicBezTo>
                <a:cubicBezTo>
                  <a:pt x="3155168" y="491350"/>
                  <a:pt x="3117210" y="541218"/>
                  <a:pt x="3065569" y="540000"/>
                </a:cubicBezTo>
                <a:cubicBezTo>
                  <a:pt x="2858706" y="543446"/>
                  <a:pt x="2701238" y="528015"/>
                  <a:pt x="2500211" y="540000"/>
                </a:cubicBezTo>
                <a:cubicBezTo>
                  <a:pt x="2299184" y="551985"/>
                  <a:pt x="2183146" y="551799"/>
                  <a:pt x="1994365" y="540000"/>
                </a:cubicBezTo>
                <a:cubicBezTo>
                  <a:pt x="1805584" y="528201"/>
                  <a:pt x="1572353" y="535880"/>
                  <a:pt x="1369496" y="540000"/>
                </a:cubicBezTo>
                <a:cubicBezTo>
                  <a:pt x="1166639" y="544120"/>
                  <a:pt x="1088826" y="535335"/>
                  <a:pt x="833894" y="540000"/>
                </a:cubicBezTo>
                <a:cubicBezTo>
                  <a:pt x="578962" y="544665"/>
                  <a:pt x="401292" y="536687"/>
                  <a:pt x="90002" y="540000"/>
                </a:cubicBezTo>
                <a:cubicBezTo>
                  <a:pt x="42276" y="531356"/>
                  <a:pt x="-6533" y="499494"/>
                  <a:pt x="0" y="449998"/>
                </a:cubicBezTo>
                <a:cubicBezTo>
                  <a:pt x="-2774" y="358857"/>
                  <a:pt x="15469" y="180620"/>
                  <a:pt x="0" y="90002"/>
                </a:cubicBezTo>
                <a:close/>
              </a:path>
              <a:path w="3155571" h="540000" stroke="0" extrusionOk="0">
                <a:moveTo>
                  <a:pt x="0" y="90002"/>
                </a:moveTo>
                <a:cubicBezTo>
                  <a:pt x="-9037" y="34721"/>
                  <a:pt x="35995" y="1614"/>
                  <a:pt x="90002" y="0"/>
                </a:cubicBezTo>
                <a:cubicBezTo>
                  <a:pt x="367811" y="-23588"/>
                  <a:pt x="521729" y="1005"/>
                  <a:pt x="744627" y="0"/>
                </a:cubicBezTo>
                <a:cubicBezTo>
                  <a:pt x="967525" y="-1005"/>
                  <a:pt x="1111997" y="-11893"/>
                  <a:pt x="1309984" y="0"/>
                </a:cubicBezTo>
                <a:cubicBezTo>
                  <a:pt x="1507971" y="11893"/>
                  <a:pt x="1662593" y="23350"/>
                  <a:pt x="1845587" y="0"/>
                </a:cubicBezTo>
                <a:cubicBezTo>
                  <a:pt x="2028581" y="-23350"/>
                  <a:pt x="2228962" y="6615"/>
                  <a:pt x="2470456" y="0"/>
                </a:cubicBezTo>
                <a:cubicBezTo>
                  <a:pt x="2711950" y="-6615"/>
                  <a:pt x="2886448" y="-29131"/>
                  <a:pt x="3065569" y="0"/>
                </a:cubicBezTo>
                <a:cubicBezTo>
                  <a:pt x="3120916" y="-9178"/>
                  <a:pt x="3151534" y="43842"/>
                  <a:pt x="3155571" y="90002"/>
                </a:cubicBezTo>
                <a:cubicBezTo>
                  <a:pt x="3161409" y="175369"/>
                  <a:pt x="3165517" y="305738"/>
                  <a:pt x="3155571" y="449998"/>
                </a:cubicBezTo>
                <a:cubicBezTo>
                  <a:pt x="3162892" y="501465"/>
                  <a:pt x="3104796" y="538305"/>
                  <a:pt x="3065569" y="540000"/>
                </a:cubicBezTo>
                <a:cubicBezTo>
                  <a:pt x="2866141" y="557867"/>
                  <a:pt x="2721738" y="527744"/>
                  <a:pt x="2470456" y="540000"/>
                </a:cubicBezTo>
                <a:cubicBezTo>
                  <a:pt x="2219174" y="552256"/>
                  <a:pt x="2088762" y="513170"/>
                  <a:pt x="1905098" y="540000"/>
                </a:cubicBezTo>
                <a:cubicBezTo>
                  <a:pt x="1721434" y="566830"/>
                  <a:pt x="1416084" y="513017"/>
                  <a:pt x="1250473" y="540000"/>
                </a:cubicBezTo>
                <a:cubicBezTo>
                  <a:pt x="1084862" y="566983"/>
                  <a:pt x="828237" y="524510"/>
                  <a:pt x="595848" y="540000"/>
                </a:cubicBezTo>
                <a:cubicBezTo>
                  <a:pt x="363460" y="555490"/>
                  <a:pt x="323523" y="56240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Taharian et al. 2026 </a:t>
            </a:r>
            <a:r>
              <a:rPr lang="en-PT" sz="1200" dirty="0">
                <a:solidFill>
                  <a:srgbClr val="002060"/>
                </a:solidFill>
                <a:latin typeface="Titillium Web" pitchFamily="2" charset="77"/>
              </a:rPr>
              <a:t>(offshore)</a:t>
            </a:r>
            <a:endParaRPr lang="en-PT" dirty="0">
              <a:solidFill>
                <a:srgbClr val="002060"/>
              </a:solidFill>
              <a:latin typeface="Titillium Web" pitchFamily="2" charset="77"/>
            </a:endParaRPr>
          </a:p>
        </p:txBody>
      </p:sp>
      <p:cxnSp>
        <p:nvCxnSpPr>
          <p:cNvPr id="18" name="Straight Arrow Connector 17">
            <a:extLst>
              <a:ext uri="{FF2B5EF4-FFF2-40B4-BE49-F238E27FC236}">
                <a16:creationId xmlns:a16="http://schemas.microsoft.com/office/drawing/2014/main" id="{5E7213B5-3D88-2A32-6244-C92BC56433F7}"/>
              </a:ext>
            </a:extLst>
          </p:cNvPr>
          <p:cNvCxnSpPr>
            <a:cxnSpLocks/>
          </p:cNvCxnSpPr>
          <p:nvPr/>
        </p:nvCxnSpPr>
        <p:spPr>
          <a:xfrm>
            <a:off x="2412014" y="3125955"/>
            <a:ext cx="0" cy="336091"/>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D1C450F2-C563-39D7-9667-186D0FFA1887}"/>
              </a:ext>
            </a:extLst>
          </p:cNvPr>
          <p:cNvCxnSpPr>
            <a:cxnSpLocks/>
          </p:cNvCxnSpPr>
          <p:nvPr/>
        </p:nvCxnSpPr>
        <p:spPr>
          <a:xfrm>
            <a:off x="2403657" y="5043626"/>
            <a:ext cx="0" cy="31332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21313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95C3E8-7635-A20C-3108-03A5BA814B22}"/>
            </a:ext>
          </a:extLst>
        </p:cNvPr>
        <p:cNvGrpSpPr/>
        <p:nvPr/>
      </p:nvGrpSpPr>
      <p:grpSpPr>
        <a:xfrm>
          <a:off x="0" y="0"/>
          <a:ext cx="0" cy="0"/>
          <a:chOff x="0" y="0"/>
          <a:chExt cx="0" cy="0"/>
        </a:xfrm>
      </p:grpSpPr>
      <p:pic>
        <p:nvPicPr>
          <p:cNvPr id="6" name="Picture 5" descr="A map of the region&#10;&#10;AI-generated content may be incorrect.">
            <a:extLst>
              <a:ext uri="{FF2B5EF4-FFF2-40B4-BE49-F238E27FC236}">
                <a16:creationId xmlns:a16="http://schemas.microsoft.com/office/drawing/2014/main" id="{3EA5BAAC-3E47-05A5-F3BD-786F1198EA55}"/>
              </a:ext>
            </a:extLst>
          </p:cNvPr>
          <p:cNvPicPr>
            <a:picLocks noChangeAspect="1"/>
          </p:cNvPicPr>
          <p:nvPr/>
        </p:nvPicPr>
        <p:blipFill>
          <a:blip r:embed="rId2"/>
          <a:srcRect t="3031"/>
          <a:stretch>
            <a:fillRect/>
          </a:stretch>
        </p:blipFill>
        <p:spPr>
          <a:xfrm>
            <a:off x="6728205" y="103926"/>
            <a:ext cx="4217525" cy="6650144"/>
          </a:xfrm>
          <a:prstGeom prst="rect">
            <a:avLst/>
          </a:prstGeom>
        </p:spPr>
      </p:pic>
      <p:sp>
        <p:nvSpPr>
          <p:cNvPr id="7" name="TextBox 6">
            <a:extLst>
              <a:ext uri="{FF2B5EF4-FFF2-40B4-BE49-F238E27FC236}">
                <a16:creationId xmlns:a16="http://schemas.microsoft.com/office/drawing/2014/main" id="{5CD0E142-E5D8-67BC-ADBC-809D0AE15CAF}"/>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54530EF6-6829-A494-4535-31210AF4E45C}"/>
              </a:ext>
            </a:extLst>
          </p:cNvPr>
          <p:cNvSpPr txBox="1"/>
          <p:nvPr/>
        </p:nvSpPr>
        <p:spPr>
          <a:xfrm>
            <a:off x="188260" y="1290918"/>
            <a:ext cx="4410634" cy="646331"/>
          </a:xfrm>
          <a:prstGeom prst="rect">
            <a:avLst/>
          </a:prstGeom>
          <a:noFill/>
        </p:spPr>
        <p:txBody>
          <a:bodyPr wrap="square" rtlCol="0">
            <a:spAutoFit/>
          </a:bodyPr>
          <a:lstStyle/>
          <a:p>
            <a:r>
              <a:rPr lang="en-PT" dirty="0">
                <a:solidFill>
                  <a:srgbClr val="002060"/>
                </a:solidFill>
                <a:latin typeface="Titillium Web" pitchFamily="2" charset="77"/>
              </a:rPr>
              <a:t>Seismic hazard (PGA for the 475 years return period) for mainland Portugal, using:</a:t>
            </a:r>
          </a:p>
        </p:txBody>
      </p:sp>
      <p:sp>
        <p:nvSpPr>
          <p:cNvPr id="2" name="Rounded Rectangle 1">
            <a:extLst>
              <a:ext uri="{FF2B5EF4-FFF2-40B4-BE49-F238E27FC236}">
                <a16:creationId xmlns:a16="http://schemas.microsoft.com/office/drawing/2014/main" id="{9EFB8890-DA7B-6E72-B2D2-888B78CC3DD3}"/>
              </a:ext>
            </a:extLst>
          </p:cNvPr>
          <p:cNvSpPr/>
          <p:nvPr/>
        </p:nvSpPr>
        <p:spPr>
          <a:xfrm>
            <a:off x="1462872" y="2585955"/>
            <a:ext cx="1900517" cy="540000"/>
          </a:xfrm>
          <a:custGeom>
            <a:avLst/>
            <a:gdLst>
              <a:gd name="csX0" fmla="*/ 0 w 1900517"/>
              <a:gd name="csY0" fmla="*/ 90002 h 540000"/>
              <a:gd name="csX1" fmla="*/ 90002 w 1900517"/>
              <a:gd name="csY1" fmla="*/ 0 h 540000"/>
              <a:gd name="csX2" fmla="*/ 697917 w 1900517"/>
              <a:gd name="csY2" fmla="*/ 0 h 540000"/>
              <a:gd name="csX3" fmla="*/ 1237011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88626 w 1900517"/>
              <a:gd name="csY8" fmla="*/ 540000 h 540000"/>
              <a:gd name="csX9" fmla="*/ 749532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087" y="38649"/>
                  <a:pt x="43463" y="-6345"/>
                  <a:pt x="90002" y="0"/>
                </a:cubicBezTo>
                <a:cubicBezTo>
                  <a:pt x="355467" y="-11402"/>
                  <a:pt x="418479" y="-24424"/>
                  <a:pt x="697917" y="0"/>
                </a:cubicBezTo>
                <a:cubicBezTo>
                  <a:pt x="977355" y="24424"/>
                  <a:pt x="1101179" y="14266"/>
                  <a:pt x="1237011" y="0"/>
                </a:cubicBezTo>
                <a:cubicBezTo>
                  <a:pt x="1372843" y="-14266"/>
                  <a:pt x="1674162" y="5036"/>
                  <a:pt x="1810515" y="0"/>
                </a:cubicBezTo>
                <a:cubicBezTo>
                  <a:pt x="1855025" y="4326"/>
                  <a:pt x="1897497" y="36661"/>
                  <a:pt x="1900517" y="90002"/>
                </a:cubicBezTo>
                <a:cubicBezTo>
                  <a:pt x="1908869" y="201270"/>
                  <a:pt x="1883065" y="375920"/>
                  <a:pt x="1900517" y="449998"/>
                </a:cubicBezTo>
                <a:cubicBezTo>
                  <a:pt x="1900670" y="506052"/>
                  <a:pt x="1855613" y="532917"/>
                  <a:pt x="1810515" y="540000"/>
                </a:cubicBezTo>
                <a:cubicBezTo>
                  <a:pt x="1637650" y="563456"/>
                  <a:pt x="1547323" y="545042"/>
                  <a:pt x="1288626" y="540000"/>
                </a:cubicBezTo>
                <a:cubicBezTo>
                  <a:pt x="1029929" y="534958"/>
                  <a:pt x="996056" y="542827"/>
                  <a:pt x="749532" y="540000"/>
                </a:cubicBezTo>
                <a:cubicBezTo>
                  <a:pt x="503008" y="537173"/>
                  <a:pt x="276055" y="541826"/>
                  <a:pt x="90002" y="540000"/>
                </a:cubicBezTo>
                <a:cubicBezTo>
                  <a:pt x="35954" y="530914"/>
                  <a:pt x="-10400" y="498643"/>
                  <a:pt x="0" y="449998"/>
                </a:cubicBezTo>
                <a:cubicBezTo>
                  <a:pt x="-3029" y="314961"/>
                  <a:pt x="11156" y="206338"/>
                  <a:pt x="0" y="90002"/>
                </a:cubicBezTo>
                <a:close/>
              </a:path>
              <a:path w="1900517" h="540000" stroke="0" extrusionOk="0">
                <a:moveTo>
                  <a:pt x="0" y="90002"/>
                </a:moveTo>
                <a:cubicBezTo>
                  <a:pt x="931" y="39480"/>
                  <a:pt x="37705" y="-655"/>
                  <a:pt x="90002" y="0"/>
                </a:cubicBezTo>
                <a:cubicBezTo>
                  <a:pt x="241798" y="-8962"/>
                  <a:pt x="420135" y="11875"/>
                  <a:pt x="611891" y="0"/>
                </a:cubicBezTo>
                <a:cubicBezTo>
                  <a:pt x="803647" y="-11875"/>
                  <a:pt x="917558" y="8808"/>
                  <a:pt x="1133780" y="0"/>
                </a:cubicBezTo>
                <a:cubicBezTo>
                  <a:pt x="1350002" y="-8808"/>
                  <a:pt x="1500364" y="-33721"/>
                  <a:pt x="1810515" y="0"/>
                </a:cubicBezTo>
                <a:cubicBezTo>
                  <a:pt x="1862168" y="12259"/>
                  <a:pt x="1898437" y="28231"/>
                  <a:pt x="1900517" y="90002"/>
                </a:cubicBezTo>
                <a:cubicBezTo>
                  <a:pt x="1915217" y="215299"/>
                  <a:pt x="1886176" y="303641"/>
                  <a:pt x="1900517" y="449998"/>
                </a:cubicBezTo>
                <a:cubicBezTo>
                  <a:pt x="1903078" y="500268"/>
                  <a:pt x="1849728" y="546152"/>
                  <a:pt x="1810515" y="540000"/>
                </a:cubicBezTo>
                <a:cubicBezTo>
                  <a:pt x="1691714" y="549468"/>
                  <a:pt x="1480693" y="559524"/>
                  <a:pt x="1271421" y="540000"/>
                </a:cubicBezTo>
                <a:cubicBezTo>
                  <a:pt x="1062149" y="520476"/>
                  <a:pt x="921989" y="542663"/>
                  <a:pt x="732327" y="540000"/>
                </a:cubicBezTo>
                <a:cubicBezTo>
                  <a:pt x="542665" y="537337"/>
                  <a:pt x="228329" y="549481"/>
                  <a:pt x="90002" y="540000"/>
                </a:cubicBezTo>
                <a:cubicBezTo>
                  <a:pt x="43509" y="538419"/>
                  <a:pt x="1900" y="492535"/>
                  <a:pt x="0" y="449998"/>
                </a:cubicBezTo>
                <a:cubicBezTo>
                  <a:pt x="-318" y="372350"/>
                  <a:pt x="8881" y="231793"/>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82505698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Inland events</a:t>
            </a:r>
          </a:p>
        </p:txBody>
      </p:sp>
      <p:sp>
        <p:nvSpPr>
          <p:cNvPr id="3" name="Rounded Rectangle 2">
            <a:extLst>
              <a:ext uri="{FF2B5EF4-FFF2-40B4-BE49-F238E27FC236}">
                <a16:creationId xmlns:a16="http://schemas.microsoft.com/office/drawing/2014/main" id="{9E24CABD-D3B6-83F2-8510-FF6A7FBBF4E6}"/>
              </a:ext>
            </a:extLst>
          </p:cNvPr>
          <p:cNvSpPr/>
          <p:nvPr/>
        </p:nvSpPr>
        <p:spPr>
          <a:xfrm>
            <a:off x="835343" y="3462046"/>
            <a:ext cx="3155575" cy="540000"/>
          </a:xfrm>
          <a:custGeom>
            <a:avLst/>
            <a:gdLst>
              <a:gd name="csX0" fmla="*/ 0 w 3155575"/>
              <a:gd name="csY0" fmla="*/ 90002 h 540000"/>
              <a:gd name="csX1" fmla="*/ 90002 w 3155575"/>
              <a:gd name="csY1" fmla="*/ 0 h 540000"/>
              <a:gd name="csX2" fmla="*/ 625605 w 3155575"/>
              <a:gd name="csY2" fmla="*/ 0 h 540000"/>
              <a:gd name="csX3" fmla="*/ 1220719 w 3155575"/>
              <a:gd name="csY3" fmla="*/ 0 h 540000"/>
              <a:gd name="csX4" fmla="*/ 1756322 w 3155575"/>
              <a:gd name="csY4" fmla="*/ 0 h 540000"/>
              <a:gd name="csX5" fmla="*/ 2351436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500215 w 3155575"/>
              <a:gd name="csY10" fmla="*/ 540000 h 540000"/>
              <a:gd name="csX11" fmla="*/ 1994367 w 3155575"/>
              <a:gd name="csY11" fmla="*/ 540000 h 540000"/>
              <a:gd name="csX12" fmla="*/ 1369498 w 3155575"/>
              <a:gd name="csY12" fmla="*/ 540000 h 540000"/>
              <a:gd name="csX13" fmla="*/ 833895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620" y="41404"/>
                  <a:pt x="42369" y="1541"/>
                  <a:pt x="90002" y="0"/>
                </a:cubicBezTo>
                <a:cubicBezTo>
                  <a:pt x="216137" y="1015"/>
                  <a:pt x="479248" y="6286"/>
                  <a:pt x="625605" y="0"/>
                </a:cubicBezTo>
                <a:cubicBezTo>
                  <a:pt x="771962" y="-6286"/>
                  <a:pt x="1014105" y="-7901"/>
                  <a:pt x="1220719" y="0"/>
                </a:cubicBezTo>
                <a:cubicBezTo>
                  <a:pt x="1427333" y="7901"/>
                  <a:pt x="1642026" y="-14423"/>
                  <a:pt x="1756322" y="0"/>
                </a:cubicBezTo>
                <a:cubicBezTo>
                  <a:pt x="1870618" y="14423"/>
                  <a:pt x="2186052" y="-16973"/>
                  <a:pt x="2351436" y="0"/>
                </a:cubicBezTo>
                <a:cubicBezTo>
                  <a:pt x="2516820" y="16973"/>
                  <a:pt x="2899000" y="-18730"/>
                  <a:pt x="3065573" y="0"/>
                </a:cubicBezTo>
                <a:cubicBezTo>
                  <a:pt x="3117706" y="-7462"/>
                  <a:pt x="3156551" y="41350"/>
                  <a:pt x="3155575" y="90002"/>
                </a:cubicBezTo>
                <a:cubicBezTo>
                  <a:pt x="3160818" y="179923"/>
                  <a:pt x="3166457" y="376404"/>
                  <a:pt x="3155575" y="449998"/>
                </a:cubicBezTo>
                <a:cubicBezTo>
                  <a:pt x="3155172" y="491350"/>
                  <a:pt x="3117214" y="541218"/>
                  <a:pt x="3065573" y="540000"/>
                </a:cubicBezTo>
                <a:cubicBezTo>
                  <a:pt x="2858710" y="543446"/>
                  <a:pt x="2701242" y="528015"/>
                  <a:pt x="2500215" y="540000"/>
                </a:cubicBezTo>
                <a:cubicBezTo>
                  <a:pt x="2299188" y="551985"/>
                  <a:pt x="2197222" y="514714"/>
                  <a:pt x="1994367" y="540000"/>
                </a:cubicBezTo>
                <a:cubicBezTo>
                  <a:pt x="1791512" y="565286"/>
                  <a:pt x="1572355" y="535880"/>
                  <a:pt x="1369498" y="540000"/>
                </a:cubicBezTo>
                <a:cubicBezTo>
                  <a:pt x="1166641" y="544120"/>
                  <a:pt x="1095232" y="542631"/>
                  <a:pt x="833895" y="540000"/>
                </a:cubicBezTo>
                <a:cubicBezTo>
                  <a:pt x="572558" y="537369"/>
                  <a:pt x="405931" y="541985"/>
                  <a:pt x="90002" y="540000"/>
                </a:cubicBezTo>
                <a:cubicBezTo>
                  <a:pt x="42276" y="531356"/>
                  <a:pt x="-6533" y="499494"/>
                  <a:pt x="0" y="449998"/>
                </a:cubicBezTo>
                <a:cubicBezTo>
                  <a:pt x="-2774" y="358857"/>
                  <a:pt x="15469" y="180620"/>
                  <a:pt x="0" y="90002"/>
                </a:cubicBezTo>
                <a:close/>
              </a:path>
              <a:path w="3155575" h="540000" stroke="0" extrusionOk="0">
                <a:moveTo>
                  <a:pt x="0" y="90002"/>
                </a:moveTo>
                <a:cubicBezTo>
                  <a:pt x="-9037" y="34721"/>
                  <a:pt x="35995" y="1614"/>
                  <a:pt x="90002" y="0"/>
                </a:cubicBezTo>
                <a:cubicBezTo>
                  <a:pt x="363867" y="-28478"/>
                  <a:pt x="517290" y="-2228"/>
                  <a:pt x="744628" y="0"/>
                </a:cubicBezTo>
                <a:cubicBezTo>
                  <a:pt x="971966" y="2228"/>
                  <a:pt x="1105994" y="-13646"/>
                  <a:pt x="1309986" y="0"/>
                </a:cubicBezTo>
                <a:cubicBezTo>
                  <a:pt x="1513978" y="13646"/>
                  <a:pt x="1662595" y="23350"/>
                  <a:pt x="1845589" y="0"/>
                </a:cubicBezTo>
                <a:cubicBezTo>
                  <a:pt x="2028583" y="-23350"/>
                  <a:pt x="2224723" y="4861"/>
                  <a:pt x="2470459" y="0"/>
                </a:cubicBezTo>
                <a:cubicBezTo>
                  <a:pt x="2716195" y="-4861"/>
                  <a:pt x="2881533" y="26021"/>
                  <a:pt x="3065573" y="0"/>
                </a:cubicBezTo>
                <a:cubicBezTo>
                  <a:pt x="3120920" y="-9178"/>
                  <a:pt x="3151538" y="43842"/>
                  <a:pt x="3155575" y="90002"/>
                </a:cubicBezTo>
                <a:cubicBezTo>
                  <a:pt x="3161413" y="175369"/>
                  <a:pt x="3165521" y="305738"/>
                  <a:pt x="3155575" y="449998"/>
                </a:cubicBezTo>
                <a:cubicBezTo>
                  <a:pt x="3162896" y="501465"/>
                  <a:pt x="3104800" y="538305"/>
                  <a:pt x="3065573" y="540000"/>
                </a:cubicBezTo>
                <a:cubicBezTo>
                  <a:pt x="2871117" y="560054"/>
                  <a:pt x="2722688" y="530462"/>
                  <a:pt x="2470459" y="540000"/>
                </a:cubicBezTo>
                <a:cubicBezTo>
                  <a:pt x="2218230" y="549538"/>
                  <a:pt x="2091719" y="517994"/>
                  <a:pt x="1905100" y="540000"/>
                </a:cubicBezTo>
                <a:cubicBezTo>
                  <a:pt x="1718481" y="562006"/>
                  <a:pt x="1416086" y="513017"/>
                  <a:pt x="1250475" y="540000"/>
                </a:cubicBezTo>
                <a:cubicBezTo>
                  <a:pt x="1084864" y="566983"/>
                  <a:pt x="834463" y="525396"/>
                  <a:pt x="595849" y="540000"/>
                </a:cubicBezTo>
                <a:cubicBezTo>
                  <a:pt x="357235" y="554604"/>
                  <a:pt x="327179" y="56319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Kotha et al. 2020 </a:t>
            </a:r>
            <a:r>
              <a:rPr lang="en-PT" sz="1100" dirty="0">
                <a:solidFill>
                  <a:srgbClr val="002060"/>
                </a:solidFill>
                <a:latin typeface="Titillium Web" pitchFamily="2" charset="77"/>
              </a:rPr>
              <a:t>(mid-slow)</a:t>
            </a:r>
            <a:endParaRPr lang="en-PT" dirty="0">
              <a:solidFill>
                <a:srgbClr val="002060"/>
              </a:solidFill>
              <a:latin typeface="Titillium Web" pitchFamily="2" charset="77"/>
            </a:endParaRPr>
          </a:p>
        </p:txBody>
      </p:sp>
      <p:sp>
        <p:nvSpPr>
          <p:cNvPr id="22" name="Rounded Rectangle 21">
            <a:extLst>
              <a:ext uri="{FF2B5EF4-FFF2-40B4-BE49-F238E27FC236}">
                <a16:creationId xmlns:a16="http://schemas.microsoft.com/office/drawing/2014/main" id="{2D082E9F-98E7-4E40-D9A0-1E0E13D47283}"/>
              </a:ext>
            </a:extLst>
          </p:cNvPr>
          <p:cNvSpPr/>
          <p:nvPr/>
        </p:nvSpPr>
        <p:spPr>
          <a:xfrm>
            <a:off x="1462872" y="4503626"/>
            <a:ext cx="1900517" cy="540000"/>
          </a:xfrm>
          <a:custGeom>
            <a:avLst/>
            <a:gdLst>
              <a:gd name="csX0" fmla="*/ 0 w 1900517"/>
              <a:gd name="csY0" fmla="*/ 90002 h 540000"/>
              <a:gd name="csX1" fmla="*/ 90002 w 1900517"/>
              <a:gd name="csY1" fmla="*/ 0 h 540000"/>
              <a:gd name="csX2" fmla="*/ 680711 w 1900517"/>
              <a:gd name="csY2" fmla="*/ 0 h 540000"/>
              <a:gd name="csX3" fmla="*/ 1254216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19806 w 1900517"/>
              <a:gd name="csY8" fmla="*/ 540000 h 540000"/>
              <a:gd name="csX9" fmla="*/ 697917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603" y="41543"/>
                  <a:pt x="33146" y="-4933"/>
                  <a:pt x="90002" y="0"/>
                </a:cubicBezTo>
                <a:cubicBezTo>
                  <a:pt x="283034" y="3233"/>
                  <a:pt x="390086" y="29445"/>
                  <a:pt x="680711" y="0"/>
                </a:cubicBezTo>
                <a:cubicBezTo>
                  <a:pt x="971336" y="-29445"/>
                  <a:pt x="970393" y="20127"/>
                  <a:pt x="1254216" y="0"/>
                </a:cubicBezTo>
                <a:cubicBezTo>
                  <a:pt x="1538039" y="-20127"/>
                  <a:pt x="1639508" y="-2719"/>
                  <a:pt x="1810515" y="0"/>
                </a:cubicBezTo>
                <a:cubicBezTo>
                  <a:pt x="1848963" y="464"/>
                  <a:pt x="1905223" y="31811"/>
                  <a:pt x="1900517" y="90002"/>
                </a:cubicBezTo>
                <a:cubicBezTo>
                  <a:pt x="1902103" y="206242"/>
                  <a:pt x="1911643" y="301308"/>
                  <a:pt x="1900517" y="449998"/>
                </a:cubicBezTo>
                <a:cubicBezTo>
                  <a:pt x="1905335" y="509244"/>
                  <a:pt x="1855501" y="542489"/>
                  <a:pt x="1810515" y="540000"/>
                </a:cubicBezTo>
                <a:cubicBezTo>
                  <a:pt x="1650478" y="551623"/>
                  <a:pt x="1459965" y="524155"/>
                  <a:pt x="1219806" y="540000"/>
                </a:cubicBezTo>
                <a:cubicBezTo>
                  <a:pt x="979647" y="555845"/>
                  <a:pt x="861666" y="563533"/>
                  <a:pt x="697917" y="540000"/>
                </a:cubicBezTo>
                <a:cubicBezTo>
                  <a:pt x="534168" y="516467"/>
                  <a:pt x="385447" y="521038"/>
                  <a:pt x="90002" y="540000"/>
                </a:cubicBezTo>
                <a:cubicBezTo>
                  <a:pt x="43417" y="541093"/>
                  <a:pt x="1497" y="504749"/>
                  <a:pt x="0" y="449998"/>
                </a:cubicBezTo>
                <a:cubicBezTo>
                  <a:pt x="10345" y="295588"/>
                  <a:pt x="-123" y="200971"/>
                  <a:pt x="0" y="90002"/>
                </a:cubicBezTo>
                <a:close/>
              </a:path>
              <a:path w="1900517" h="540000" stroke="0" extrusionOk="0">
                <a:moveTo>
                  <a:pt x="0" y="90002"/>
                </a:moveTo>
                <a:cubicBezTo>
                  <a:pt x="-9037" y="34721"/>
                  <a:pt x="35995" y="1614"/>
                  <a:pt x="90002" y="0"/>
                </a:cubicBezTo>
                <a:cubicBezTo>
                  <a:pt x="219763" y="-21702"/>
                  <a:pt x="487792" y="24698"/>
                  <a:pt x="697917" y="0"/>
                </a:cubicBezTo>
                <a:cubicBezTo>
                  <a:pt x="908043" y="-24698"/>
                  <a:pt x="1045868" y="12713"/>
                  <a:pt x="1254216" y="0"/>
                </a:cubicBezTo>
                <a:cubicBezTo>
                  <a:pt x="1462564" y="-12713"/>
                  <a:pt x="1541174" y="20842"/>
                  <a:pt x="1810515" y="0"/>
                </a:cubicBezTo>
                <a:cubicBezTo>
                  <a:pt x="1858408" y="-5842"/>
                  <a:pt x="1902763" y="31985"/>
                  <a:pt x="1900517" y="90002"/>
                </a:cubicBezTo>
                <a:cubicBezTo>
                  <a:pt x="1914497" y="164508"/>
                  <a:pt x="1899017" y="283030"/>
                  <a:pt x="1900517" y="449998"/>
                </a:cubicBezTo>
                <a:cubicBezTo>
                  <a:pt x="1899830" y="493152"/>
                  <a:pt x="1853076" y="549931"/>
                  <a:pt x="1810515" y="540000"/>
                </a:cubicBezTo>
                <a:cubicBezTo>
                  <a:pt x="1567553" y="524027"/>
                  <a:pt x="1393910" y="545331"/>
                  <a:pt x="1271421" y="540000"/>
                </a:cubicBezTo>
                <a:cubicBezTo>
                  <a:pt x="1148932" y="534669"/>
                  <a:pt x="822531" y="559426"/>
                  <a:pt x="697917" y="540000"/>
                </a:cubicBezTo>
                <a:cubicBezTo>
                  <a:pt x="573303" y="520574"/>
                  <a:pt x="253301" y="550202"/>
                  <a:pt x="90002" y="540000"/>
                </a:cubicBezTo>
                <a:cubicBezTo>
                  <a:pt x="47510" y="532870"/>
                  <a:pt x="3274" y="497594"/>
                  <a:pt x="0" y="449998"/>
                </a:cubicBezTo>
                <a:cubicBezTo>
                  <a:pt x="2024" y="275979"/>
                  <a:pt x="-7437" y="162155"/>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Offshore events</a:t>
            </a:r>
          </a:p>
        </p:txBody>
      </p:sp>
      <p:sp>
        <p:nvSpPr>
          <p:cNvPr id="24" name="Rounded Rectangle 23">
            <a:extLst>
              <a:ext uri="{FF2B5EF4-FFF2-40B4-BE49-F238E27FC236}">
                <a16:creationId xmlns:a16="http://schemas.microsoft.com/office/drawing/2014/main" id="{61C5CE29-0860-616C-1F2E-5ABA5387B559}"/>
              </a:ext>
            </a:extLst>
          </p:cNvPr>
          <p:cNvSpPr/>
          <p:nvPr/>
        </p:nvSpPr>
        <p:spPr>
          <a:xfrm>
            <a:off x="835345" y="5356948"/>
            <a:ext cx="3155571" cy="540000"/>
          </a:xfrm>
          <a:custGeom>
            <a:avLst/>
            <a:gdLst>
              <a:gd name="csX0" fmla="*/ 0 w 3155571"/>
              <a:gd name="csY0" fmla="*/ 90002 h 540000"/>
              <a:gd name="csX1" fmla="*/ 90002 w 3155571"/>
              <a:gd name="csY1" fmla="*/ 0 h 540000"/>
              <a:gd name="csX2" fmla="*/ 625604 w 3155571"/>
              <a:gd name="csY2" fmla="*/ 0 h 540000"/>
              <a:gd name="csX3" fmla="*/ 1220717 w 3155571"/>
              <a:gd name="csY3" fmla="*/ 0 h 540000"/>
              <a:gd name="csX4" fmla="*/ 1756320 w 3155571"/>
              <a:gd name="csY4" fmla="*/ 0 h 540000"/>
              <a:gd name="csX5" fmla="*/ 2351433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500211 w 3155571"/>
              <a:gd name="csY10" fmla="*/ 540000 h 540000"/>
              <a:gd name="csX11" fmla="*/ 1994365 w 3155571"/>
              <a:gd name="csY11" fmla="*/ 540000 h 540000"/>
              <a:gd name="csX12" fmla="*/ 1369496 w 3155571"/>
              <a:gd name="csY12" fmla="*/ 540000 h 540000"/>
              <a:gd name="csX13" fmla="*/ 833894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620" y="41404"/>
                  <a:pt x="42369" y="1541"/>
                  <a:pt x="90002" y="0"/>
                </a:cubicBezTo>
                <a:cubicBezTo>
                  <a:pt x="223989" y="1661"/>
                  <a:pt x="484767" y="6480"/>
                  <a:pt x="625604" y="0"/>
                </a:cubicBezTo>
                <a:cubicBezTo>
                  <a:pt x="766441" y="-6480"/>
                  <a:pt x="1014499" y="-7204"/>
                  <a:pt x="1220717" y="0"/>
                </a:cubicBezTo>
                <a:cubicBezTo>
                  <a:pt x="1426935" y="7204"/>
                  <a:pt x="1642024" y="-14423"/>
                  <a:pt x="1756320" y="0"/>
                </a:cubicBezTo>
                <a:cubicBezTo>
                  <a:pt x="1870616" y="14423"/>
                  <a:pt x="2187364" y="-15181"/>
                  <a:pt x="2351433" y="0"/>
                </a:cubicBezTo>
                <a:cubicBezTo>
                  <a:pt x="2515502" y="15181"/>
                  <a:pt x="2902673" y="-13819"/>
                  <a:pt x="3065569" y="0"/>
                </a:cubicBezTo>
                <a:cubicBezTo>
                  <a:pt x="3117702" y="-7462"/>
                  <a:pt x="3156547" y="41350"/>
                  <a:pt x="3155571" y="90002"/>
                </a:cubicBezTo>
                <a:cubicBezTo>
                  <a:pt x="3160814" y="179923"/>
                  <a:pt x="3166453" y="376404"/>
                  <a:pt x="3155571" y="449998"/>
                </a:cubicBezTo>
                <a:cubicBezTo>
                  <a:pt x="3155168" y="491350"/>
                  <a:pt x="3117210" y="541218"/>
                  <a:pt x="3065569" y="540000"/>
                </a:cubicBezTo>
                <a:cubicBezTo>
                  <a:pt x="2858706" y="543446"/>
                  <a:pt x="2701238" y="528015"/>
                  <a:pt x="2500211" y="540000"/>
                </a:cubicBezTo>
                <a:cubicBezTo>
                  <a:pt x="2299184" y="551985"/>
                  <a:pt x="2183146" y="551799"/>
                  <a:pt x="1994365" y="540000"/>
                </a:cubicBezTo>
                <a:cubicBezTo>
                  <a:pt x="1805584" y="528201"/>
                  <a:pt x="1572353" y="535880"/>
                  <a:pt x="1369496" y="540000"/>
                </a:cubicBezTo>
                <a:cubicBezTo>
                  <a:pt x="1166639" y="544120"/>
                  <a:pt x="1088826" y="535335"/>
                  <a:pt x="833894" y="540000"/>
                </a:cubicBezTo>
                <a:cubicBezTo>
                  <a:pt x="578962" y="544665"/>
                  <a:pt x="401292" y="536687"/>
                  <a:pt x="90002" y="540000"/>
                </a:cubicBezTo>
                <a:cubicBezTo>
                  <a:pt x="42276" y="531356"/>
                  <a:pt x="-6533" y="499494"/>
                  <a:pt x="0" y="449998"/>
                </a:cubicBezTo>
                <a:cubicBezTo>
                  <a:pt x="-2774" y="358857"/>
                  <a:pt x="15469" y="180620"/>
                  <a:pt x="0" y="90002"/>
                </a:cubicBezTo>
                <a:close/>
              </a:path>
              <a:path w="3155571" h="540000" stroke="0" extrusionOk="0">
                <a:moveTo>
                  <a:pt x="0" y="90002"/>
                </a:moveTo>
                <a:cubicBezTo>
                  <a:pt x="-9037" y="34721"/>
                  <a:pt x="35995" y="1614"/>
                  <a:pt x="90002" y="0"/>
                </a:cubicBezTo>
                <a:cubicBezTo>
                  <a:pt x="367811" y="-23588"/>
                  <a:pt x="521729" y="1005"/>
                  <a:pt x="744627" y="0"/>
                </a:cubicBezTo>
                <a:cubicBezTo>
                  <a:pt x="967525" y="-1005"/>
                  <a:pt x="1111997" y="-11893"/>
                  <a:pt x="1309984" y="0"/>
                </a:cubicBezTo>
                <a:cubicBezTo>
                  <a:pt x="1507971" y="11893"/>
                  <a:pt x="1662593" y="23350"/>
                  <a:pt x="1845587" y="0"/>
                </a:cubicBezTo>
                <a:cubicBezTo>
                  <a:pt x="2028581" y="-23350"/>
                  <a:pt x="2228962" y="6615"/>
                  <a:pt x="2470456" y="0"/>
                </a:cubicBezTo>
                <a:cubicBezTo>
                  <a:pt x="2711950" y="-6615"/>
                  <a:pt x="2886448" y="-29131"/>
                  <a:pt x="3065569" y="0"/>
                </a:cubicBezTo>
                <a:cubicBezTo>
                  <a:pt x="3120916" y="-9178"/>
                  <a:pt x="3151534" y="43842"/>
                  <a:pt x="3155571" y="90002"/>
                </a:cubicBezTo>
                <a:cubicBezTo>
                  <a:pt x="3161409" y="175369"/>
                  <a:pt x="3165517" y="305738"/>
                  <a:pt x="3155571" y="449998"/>
                </a:cubicBezTo>
                <a:cubicBezTo>
                  <a:pt x="3162892" y="501465"/>
                  <a:pt x="3104796" y="538305"/>
                  <a:pt x="3065569" y="540000"/>
                </a:cubicBezTo>
                <a:cubicBezTo>
                  <a:pt x="2866141" y="557867"/>
                  <a:pt x="2721738" y="527744"/>
                  <a:pt x="2470456" y="540000"/>
                </a:cubicBezTo>
                <a:cubicBezTo>
                  <a:pt x="2219174" y="552256"/>
                  <a:pt x="2088762" y="513170"/>
                  <a:pt x="1905098" y="540000"/>
                </a:cubicBezTo>
                <a:cubicBezTo>
                  <a:pt x="1721434" y="566830"/>
                  <a:pt x="1416084" y="513017"/>
                  <a:pt x="1250473" y="540000"/>
                </a:cubicBezTo>
                <a:cubicBezTo>
                  <a:pt x="1084862" y="566983"/>
                  <a:pt x="828237" y="524510"/>
                  <a:pt x="595848" y="540000"/>
                </a:cubicBezTo>
                <a:cubicBezTo>
                  <a:pt x="363460" y="555490"/>
                  <a:pt x="323523" y="56240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Kotha et al. 2020 </a:t>
            </a:r>
            <a:r>
              <a:rPr lang="en-PT" sz="1200" dirty="0">
                <a:solidFill>
                  <a:srgbClr val="002060"/>
                </a:solidFill>
                <a:latin typeface="Titillium Web" pitchFamily="2" charset="77"/>
              </a:rPr>
              <a:t>(high-slow)</a:t>
            </a:r>
            <a:endParaRPr lang="en-PT" dirty="0">
              <a:solidFill>
                <a:srgbClr val="002060"/>
              </a:solidFill>
              <a:latin typeface="Titillium Web" pitchFamily="2" charset="77"/>
            </a:endParaRPr>
          </a:p>
        </p:txBody>
      </p:sp>
      <p:cxnSp>
        <p:nvCxnSpPr>
          <p:cNvPr id="18" name="Straight Arrow Connector 17">
            <a:extLst>
              <a:ext uri="{FF2B5EF4-FFF2-40B4-BE49-F238E27FC236}">
                <a16:creationId xmlns:a16="http://schemas.microsoft.com/office/drawing/2014/main" id="{F2C4D5FC-BDFC-A5AE-E245-3A2B7C3491A9}"/>
              </a:ext>
            </a:extLst>
          </p:cNvPr>
          <p:cNvCxnSpPr>
            <a:cxnSpLocks/>
          </p:cNvCxnSpPr>
          <p:nvPr/>
        </p:nvCxnSpPr>
        <p:spPr>
          <a:xfrm>
            <a:off x="2412014" y="3125955"/>
            <a:ext cx="0" cy="336091"/>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B3F35402-3534-1730-3DC3-B46559636518}"/>
              </a:ext>
            </a:extLst>
          </p:cNvPr>
          <p:cNvCxnSpPr>
            <a:cxnSpLocks/>
          </p:cNvCxnSpPr>
          <p:nvPr/>
        </p:nvCxnSpPr>
        <p:spPr>
          <a:xfrm>
            <a:off x="2403657" y="5043626"/>
            <a:ext cx="0" cy="31332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630955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D45601-29C9-84F0-8125-DE01FDFA4169}"/>
            </a:ext>
          </a:extLst>
        </p:cNvPr>
        <p:cNvGrpSpPr/>
        <p:nvPr/>
      </p:nvGrpSpPr>
      <p:grpSpPr>
        <a:xfrm>
          <a:off x="0" y="0"/>
          <a:ext cx="0" cy="0"/>
          <a:chOff x="0" y="0"/>
          <a:chExt cx="0" cy="0"/>
        </a:xfrm>
      </p:grpSpPr>
      <p:pic>
        <p:nvPicPr>
          <p:cNvPr id="5" name="Picture 4" descr="A map of the portuguese region&#10;&#10;AI-generated content may be incorrect.">
            <a:extLst>
              <a:ext uri="{FF2B5EF4-FFF2-40B4-BE49-F238E27FC236}">
                <a16:creationId xmlns:a16="http://schemas.microsoft.com/office/drawing/2014/main" id="{F176C65A-F763-370C-D86A-F4F63D7BFB87}"/>
              </a:ext>
            </a:extLst>
          </p:cNvPr>
          <p:cNvPicPr>
            <a:picLocks noChangeAspect="1"/>
          </p:cNvPicPr>
          <p:nvPr/>
        </p:nvPicPr>
        <p:blipFill>
          <a:blip r:embed="rId2"/>
          <a:srcRect t="3484"/>
          <a:stretch>
            <a:fillRect/>
          </a:stretch>
        </p:blipFill>
        <p:spPr>
          <a:xfrm>
            <a:off x="6741652" y="130820"/>
            <a:ext cx="4217525" cy="6619074"/>
          </a:xfrm>
          <a:prstGeom prst="rect">
            <a:avLst/>
          </a:prstGeom>
        </p:spPr>
      </p:pic>
      <p:sp>
        <p:nvSpPr>
          <p:cNvPr id="7" name="TextBox 6">
            <a:extLst>
              <a:ext uri="{FF2B5EF4-FFF2-40B4-BE49-F238E27FC236}">
                <a16:creationId xmlns:a16="http://schemas.microsoft.com/office/drawing/2014/main" id="{C58F4453-1F78-8365-4F9A-8E43C441BC6C}"/>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A1B6B9FE-F466-F598-9232-347436AFE5AC}"/>
              </a:ext>
            </a:extLst>
          </p:cNvPr>
          <p:cNvSpPr txBox="1"/>
          <p:nvPr/>
        </p:nvSpPr>
        <p:spPr>
          <a:xfrm>
            <a:off x="188260" y="1290918"/>
            <a:ext cx="4410634" cy="646331"/>
          </a:xfrm>
          <a:prstGeom prst="rect">
            <a:avLst/>
          </a:prstGeom>
          <a:noFill/>
        </p:spPr>
        <p:txBody>
          <a:bodyPr wrap="square" rtlCol="0">
            <a:spAutoFit/>
          </a:bodyPr>
          <a:lstStyle/>
          <a:p>
            <a:r>
              <a:rPr lang="en-PT" dirty="0">
                <a:solidFill>
                  <a:srgbClr val="002060"/>
                </a:solidFill>
                <a:latin typeface="Titillium Web" pitchFamily="2" charset="77"/>
              </a:rPr>
              <a:t>Seismic hazard (PGA for the 475 years return period) for mainland Portugal, using:</a:t>
            </a:r>
          </a:p>
        </p:txBody>
      </p:sp>
      <p:sp>
        <p:nvSpPr>
          <p:cNvPr id="2" name="Rounded Rectangle 1">
            <a:extLst>
              <a:ext uri="{FF2B5EF4-FFF2-40B4-BE49-F238E27FC236}">
                <a16:creationId xmlns:a16="http://schemas.microsoft.com/office/drawing/2014/main" id="{B4A00CAF-D527-EAF0-22B8-6892FCE8862B}"/>
              </a:ext>
            </a:extLst>
          </p:cNvPr>
          <p:cNvSpPr/>
          <p:nvPr/>
        </p:nvSpPr>
        <p:spPr>
          <a:xfrm>
            <a:off x="1462872" y="2585955"/>
            <a:ext cx="1900517" cy="540000"/>
          </a:xfrm>
          <a:custGeom>
            <a:avLst/>
            <a:gdLst>
              <a:gd name="csX0" fmla="*/ 0 w 1900517"/>
              <a:gd name="csY0" fmla="*/ 90002 h 540000"/>
              <a:gd name="csX1" fmla="*/ 90002 w 1900517"/>
              <a:gd name="csY1" fmla="*/ 0 h 540000"/>
              <a:gd name="csX2" fmla="*/ 697917 w 1900517"/>
              <a:gd name="csY2" fmla="*/ 0 h 540000"/>
              <a:gd name="csX3" fmla="*/ 1237011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88626 w 1900517"/>
              <a:gd name="csY8" fmla="*/ 540000 h 540000"/>
              <a:gd name="csX9" fmla="*/ 749532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087" y="38649"/>
                  <a:pt x="43463" y="-6345"/>
                  <a:pt x="90002" y="0"/>
                </a:cubicBezTo>
                <a:cubicBezTo>
                  <a:pt x="355467" y="-11402"/>
                  <a:pt x="418479" y="-24424"/>
                  <a:pt x="697917" y="0"/>
                </a:cubicBezTo>
                <a:cubicBezTo>
                  <a:pt x="977355" y="24424"/>
                  <a:pt x="1101179" y="14266"/>
                  <a:pt x="1237011" y="0"/>
                </a:cubicBezTo>
                <a:cubicBezTo>
                  <a:pt x="1372843" y="-14266"/>
                  <a:pt x="1674162" y="5036"/>
                  <a:pt x="1810515" y="0"/>
                </a:cubicBezTo>
                <a:cubicBezTo>
                  <a:pt x="1855025" y="4326"/>
                  <a:pt x="1897497" y="36661"/>
                  <a:pt x="1900517" y="90002"/>
                </a:cubicBezTo>
                <a:cubicBezTo>
                  <a:pt x="1908869" y="201270"/>
                  <a:pt x="1883065" y="375920"/>
                  <a:pt x="1900517" y="449998"/>
                </a:cubicBezTo>
                <a:cubicBezTo>
                  <a:pt x="1900670" y="506052"/>
                  <a:pt x="1855613" y="532917"/>
                  <a:pt x="1810515" y="540000"/>
                </a:cubicBezTo>
                <a:cubicBezTo>
                  <a:pt x="1637650" y="563456"/>
                  <a:pt x="1547323" y="545042"/>
                  <a:pt x="1288626" y="540000"/>
                </a:cubicBezTo>
                <a:cubicBezTo>
                  <a:pt x="1029929" y="534958"/>
                  <a:pt x="996056" y="542827"/>
                  <a:pt x="749532" y="540000"/>
                </a:cubicBezTo>
                <a:cubicBezTo>
                  <a:pt x="503008" y="537173"/>
                  <a:pt x="276055" y="541826"/>
                  <a:pt x="90002" y="540000"/>
                </a:cubicBezTo>
                <a:cubicBezTo>
                  <a:pt x="35954" y="530914"/>
                  <a:pt x="-10400" y="498643"/>
                  <a:pt x="0" y="449998"/>
                </a:cubicBezTo>
                <a:cubicBezTo>
                  <a:pt x="-3029" y="314961"/>
                  <a:pt x="11156" y="206338"/>
                  <a:pt x="0" y="90002"/>
                </a:cubicBezTo>
                <a:close/>
              </a:path>
              <a:path w="1900517" h="540000" stroke="0" extrusionOk="0">
                <a:moveTo>
                  <a:pt x="0" y="90002"/>
                </a:moveTo>
                <a:cubicBezTo>
                  <a:pt x="931" y="39480"/>
                  <a:pt x="37705" y="-655"/>
                  <a:pt x="90002" y="0"/>
                </a:cubicBezTo>
                <a:cubicBezTo>
                  <a:pt x="241798" y="-8962"/>
                  <a:pt x="420135" y="11875"/>
                  <a:pt x="611891" y="0"/>
                </a:cubicBezTo>
                <a:cubicBezTo>
                  <a:pt x="803647" y="-11875"/>
                  <a:pt x="917558" y="8808"/>
                  <a:pt x="1133780" y="0"/>
                </a:cubicBezTo>
                <a:cubicBezTo>
                  <a:pt x="1350002" y="-8808"/>
                  <a:pt x="1500364" y="-33721"/>
                  <a:pt x="1810515" y="0"/>
                </a:cubicBezTo>
                <a:cubicBezTo>
                  <a:pt x="1862168" y="12259"/>
                  <a:pt x="1898437" y="28231"/>
                  <a:pt x="1900517" y="90002"/>
                </a:cubicBezTo>
                <a:cubicBezTo>
                  <a:pt x="1915217" y="215299"/>
                  <a:pt x="1886176" y="303641"/>
                  <a:pt x="1900517" y="449998"/>
                </a:cubicBezTo>
                <a:cubicBezTo>
                  <a:pt x="1903078" y="500268"/>
                  <a:pt x="1849728" y="546152"/>
                  <a:pt x="1810515" y="540000"/>
                </a:cubicBezTo>
                <a:cubicBezTo>
                  <a:pt x="1691714" y="549468"/>
                  <a:pt x="1480693" y="559524"/>
                  <a:pt x="1271421" y="540000"/>
                </a:cubicBezTo>
                <a:cubicBezTo>
                  <a:pt x="1062149" y="520476"/>
                  <a:pt x="921989" y="542663"/>
                  <a:pt x="732327" y="540000"/>
                </a:cubicBezTo>
                <a:cubicBezTo>
                  <a:pt x="542665" y="537337"/>
                  <a:pt x="228329" y="549481"/>
                  <a:pt x="90002" y="540000"/>
                </a:cubicBezTo>
                <a:cubicBezTo>
                  <a:pt x="43509" y="538419"/>
                  <a:pt x="1900" y="492535"/>
                  <a:pt x="0" y="449998"/>
                </a:cubicBezTo>
                <a:cubicBezTo>
                  <a:pt x="-318" y="372350"/>
                  <a:pt x="8881" y="231793"/>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82505698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Inland events</a:t>
            </a:r>
          </a:p>
        </p:txBody>
      </p:sp>
      <p:sp>
        <p:nvSpPr>
          <p:cNvPr id="3" name="Rounded Rectangle 2">
            <a:extLst>
              <a:ext uri="{FF2B5EF4-FFF2-40B4-BE49-F238E27FC236}">
                <a16:creationId xmlns:a16="http://schemas.microsoft.com/office/drawing/2014/main" id="{FBAE93D3-EDD6-C931-9D98-97D549959BAB}"/>
              </a:ext>
            </a:extLst>
          </p:cNvPr>
          <p:cNvSpPr/>
          <p:nvPr/>
        </p:nvSpPr>
        <p:spPr>
          <a:xfrm>
            <a:off x="835343" y="3462046"/>
            <a:ext cx="3155575" cy="540000"/>
          </a:xfrm>
          <a:custGeom>
            <a:avLst/>
            <a:gdLst>
              <a:gd name="csX0" fmla="*/ 0 w 3155575"/>
              <a:gd name="csY0" fmla="*/ 90002 h 540000"/>
              <a:gd name="csX1" fmla="*/ 90002 w 3155575"/>
              <a:gd name="csY1" fmla="*/ 0 h 540000"/>
              <a:gd name="csX2" fmla="*/ 625605 w 3155575"/>
              <a:gd name="csY2" fmla="*/ 0 h 540000"/>
              <a:gd name="csX3" fmla="*/ 1220719 w 3155575"/>
              <a:gd name="csY3" fmla="*/ 0 h 540000"/>
              <a:gd name="csX4" fmla="*/ 1756322 w 3155575"/>
              <a:gd name="csY4" fmla="*/ 0 h 540000"/>
              <a:gd name="csX5" fmla="*/ 2351436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500215 w 3155575"/>
              <a:gd name="csY10" fmla="*/ 540000 h 540000"/>
              <a:gd name="csX11" fmla="*/ 1994367 w 3155575"/>
              <a:gd name="csY11" fmla="*/ 540000 h 540000"/>
              <a:gd name="csX12" fmla="*/ 1369498 w 3155575"/>
              <a:gd name="csY12" fmla="*/ 540000 h 540000"/>
              <a:gd name="csX13" fmla="*/ 833895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620" y="41404"/>
                  <a:pt x="42369" y="1541"/>
                  <a:pt x="90002" y="0"/>
                </a:cubicBezTo>
                <a:cubicBezTo>
                  <a:pt x="216137" y="1015"/>
                  <a:pt x="479248" y="6286"/>
                  <a:pt x="625605" y="0"/>
                </a:cubicBezTo>
                <a:cubicBezTo>
                  <a:pt x="771962" y="-6286"/>
                  <a:pt x="1014105" y="-7901"/>
                  <a:pt x="1220719" y="0"/>
                </a:cubicBezTo>
                <a:cubicBezTo>
                  <a:pt x="1427333" y="7901"/>
                  <a:pt x="1642026" y="-14423"/>
                  <a:pt x="1756322" y="0"/>
                </a:cubicBezTo>
                <a:cubicBezTo>
                  <a:pt x="1870618" y="14423"/>
                  <a:pt x="2186052" y="-16973"/>
                  <a:pt x="2351436" y="0"/>
                </a:cubicBezTo>
                <a:cubicBezTo>
                  <a:pt x="2516820" y="16973"/>
                  <a:pt x="2899000" y="-18730"/>
                  <a:pt x="3065573" y="0"/>
                </a:cubicBezTo>
                <a:cubicBezTo>
                  <a:pt x="3117706" y="-7462"/>
                  <a:pt x="3156551" y="41350"/>
                  <a:pt x="3155575" y="90002"/>
                </a:cubicBezTo>
                <a:cubicBezTo>
                  <a:pt x="3160818" y="179923"/>
                  <a:pt x="3166457" y="376404"/>
                  <a:pt x="3155575" y="449998"/>
                </a:cubicBezTo>
                <a:cubicBezTo>
                  <a:pt x="3155172" y="491350"/>
                  <a:pt x="3117214" y="541218"/>
                  <a:pt x="3065573" y="540000"/>
                </a:cubicBezTo>
                <a:cubicBezTo>
                  <a:pt x="2858710" y="543446"/>
                  <a:pt x="2701242" y="528015"/>
                  <a:pt x="2500215" y="540000"/>
                </a:cubicBezTo>
                <a:cubicBezTo>
                  <a:pt x="2299188" y="551985"/>
                  <a:pt x="2197222" y="514714"/>
                  <a:pt x="1994367" y="540000"/>
                </a:cubicBezTo>
                <a:cubicBezTo>
                  <a:pt x="1791512" y="565286"/>
                  <a:pt x="1572355" y="535880"/>
                  <a:pt x="1369498" y="540000"/>
                </a:cubicBezTo>
                <a:cubicBezTo>
                  <a:pt x="1166641" y="544120"/>
                  <a:pt x="1095232" y="542631"/>
                  <a:pt x="833895" y="540000"/>
                </a:cubicBezTo>
                <a:cubicBezTo>
                  <a:pt x="572558" y="537369"/>
                  <a:pt x="405931" y="541985"/>
                  <a:pt x="90002" y="540000"/>
                </a:cubicBezTo>
                <a:cubicBezTo>
                  <a:pt x="42276" y="531356"/>
                  <a:pt x="-6533" y="499494"/>
                  <a:pt x="0" y="449998"/>
                </a:cubicBezTo>
                <a:cubicBezTo>
                  <a:pt x="-2774" y="358857"/>
                  <a:pt x="15469" y="180620"/>
                  <a:pt x="0" y="90002"/>
                </a:cubicBezTo>
                <a:close/>
              </a:path>
              <a:path w="3155575" h="540000" stroke="0" extrusionOk="0">
                <a:moveTo>
                  <a:pt x="0" y="90002"/>
                </a:moveTo>
                <a:cubicBezTo>
                  <a:pt x="-9037" y="34721"/>
                  <a:pt x="35995" y="1614"/>
                  <a:pt x="90002" y="0"/>
                </a:cubicBezTo>
                <a:cubicBezTo>
                  <a:pt x="363867" y="-28478"/>
                  <a:pt x="517290" y="-2228"/>
                  <a:pt x="744628" y="0"/>
                </a:cubicBezTo>
                <a:cubicBezTo>
                  <a:pt x="971966" y="2228"/>
                  <a:pt x="1105994" y="-13646"/>
                  <a:pt x="1309986" y="0"/>
                </a:cubicBezTo>
                <a:cubicBezTo>
                  <a:pt x="1513978" y="13646"/>
                  <a:pt x="1662595" y="23350"/>
                  <a:pt x="1845589" y="0"/>
                </a:cubicBezTo>
                <a:cubicBezTo>
                  <a:pt x="2028583" y="-23350"/>
                  <a:pt x="2224723" y="4861"/>
                  <a:pt x="2470459" y="0"/>
                </a:cubicBezTo>
                <a:cubicBezTo>
                  <a:pt x="2716195" y="-4861"/>
                  <a:pt x="2881533" y="26021"/>
                  <a:pt x="3065573" y="0"/>
                </a:cubicBezTo>
                <a:cubicBezTo>
                  <a:pt x="3120920" y="-9178"/>
                  <a:pt x="3151538" y="43842"/>
                  <a:pt x="3155575" y="90002"/>
                </a:cubicBezTo>
                <a:cubicBezTo>
                  <a:pt x="3161413" y="175369"/>
                  <a:pt x="3165521" y="305738"/>
                  <a:pt x="3155575" y="449998"/>
                </a:cubicBezTo>
                <a:cubicBezTo>
                  <a:pt x="3162896" y="501465"/>
                  <a:pt x="3104800" y="538305"/>
                  <a:pt x="3065573" y="540000"/>
                </a:cubicBezTo>
                <a:cubicBezTo>
                  <a:pt x="2871117" y="560054"/>
                  <a:pt x="2722688" y="530462"/>
                  <a:pt x="2470459" y="540000"/>
                </a:cubicBezTo>
                <a:cubicBezTo>
                  <a:pt x="2218230" y="549538"/>
                  <a:pt x="2091719" y="517994"/>
                  <a:pt x="1905100" y="540000"/>
                </a:cubicBezTo>
                <a:cubicBezTo>
                  <a:pt x="1718481" y="562006"/>
                  <a:pt x="1416086" y="513017"/>
                  <a:pt x="1250475" y="540000"/>
                </a:cubicBezTo>
                <a:cubicBezTo>
                  <a:pt x="1084864" y="566983"/>
                  <a:pt x="834463" y="525396"/>
                  <a:pt x="595849" y="540000"/>
                </a:cubicBezTo>
                <a:cubicBezTo>
                  <a:pt x="357235" y="554604"/>
                  <a:pt x="327179" y="56319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Kotha et al. 2020 </a:t>
            </a:r>
            <a:r>
              <a:rPr lang="en-PT" sz="1100" dirty="0">
                <a:solidFill>
                  <a:srgbClr val="002060"/>
                </a:solidFill>
                <a:latin typeface="Titillium Web" pitchFamily="2" charset="77"/>
              </a:rPr>
              <a:t>(high-slow)</a:t>
            </a:r>
            <a:endParaRPr lang="en-PT" dirty="0">
              <a:solidFill>
                <a:srgbClr val="002060"/>
              </a:solidFill>
              <a:latin typeface="Titillium Web" pitchFamily="2" charset="77"/>
            </a:endParaRPr>
          </a:p>
        </p:txBody>
      </p:sp>
      <p:sp>
        <p:nvSpPr>
          <p:cNvPr id="22" name="Rounded Rectangle 21">
            <a:extLst>
              <a:ext uri="{FF2B5EF4-FFF2-40B4-BE49-F238E27FC236}">
                <a16:creationId xmlns:a16="http://schemas.microsoft.com/office/drawing/2014/main" id="{816DFF27-DCA0-822E-E05E-52F5D9B1B303}"/>
              </a:ext>
            </a:extLst>
          </p:cNvPr>
          <p:cNvSpPr/>
          <p:nvPr/>
        </p:nvSpPr>
        <p:spPr>
          <a:xfrm>
            <a:off x="1462872" y="4503626"/>
            <a:ext cx="1900517" cy="540000"/>
          </a:xfrm>
          <a:custGeom>
            <a:avLst/>
            <a:gdLst>
              <a:gd name="csX0" fmla="*/ 0 w 1900517"/>
              <a:gd name="csY0" fmla="*/ 90002 h 540000"/>
              <a:gd name="csX1" fmla="*/ 90002 w 1900517"/>
              <a:gd name="csY1" fmla="*/ 0 h 540000"/>
              <a:gd name="csX2" fmla="*/ 680711 w 1900517"/>
              <a:gd name="csY2" fmla="*/ 0 h 540000"/>
              <a:gd name="csX3" fmla="*/ 1254216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19806 w 1900517"/>
              <a:gd name="csY8" fmla="*/ 540000 h 540000"/>
              <a:gd name="csX9" fmla="*/ 697917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603" y="41543"/>
                  <a:pt x="33146" y="-4933"/>
                  <a:pt x="90002" y="0"/>
                </a:cubicBezTo>
                <a:cubicBezTo>
                  <a:pt x="283034" y="3233"/>
                  <a:pt x="390086" y="29445"/>
                  <a:pt x="680711" y="0"/>
                </a:cubicBezTo>
                <a:cubicBezTo>
                  <a:pt x="971336" y="-29445"/>
                  <a:pt x="970393" y="20127"/>
                  <a:pt x="1254216" y="0"/>
                </a:cubicBezTo>
                <a:cubicBezTo>
                  <a:pt x="1538039" y="-20127"/>
                  <a:pt x="1639508" y="-2719"/>
                  <a:pt x="1810515" y="0"/>
                </a:cubicBezTo>
                <a:cubicBezTo>
                  <a:pt x="1848963" y="464"/>
                  <a:pt x="1905223" y="31811"/>
                  <a:pt x="1900517" y="90002"/>
                </a:cubicBezTo>
                <a:cubicBezTo>
                  <a:pt x="1902103" y="206242"/>
                  <a:pt x="1911643" y="301308"/>
                  <a:pt x="1900517" y="449998"/>
                </a:cubicBezTo>
                <a:cubicBezTo>
                  <a:pt x="1905335" y="509244"/>
                  <a:pt x="1855501" y="542489"/>
                  <a:pt x="1810515" y="540000"/>
                </a:cubicBezTo>
                <a:cubicBezTo>
                  <a:pt x="1650478" y="551623"/>
                  <a:pt x="1459965" y="524155"/>
                  <a:pt x="1219806" y="540000"/>
                </a:cubicBezTo>
                <a:cubicBezTo>
                  <a:pt x="979647" y="555845"/>
                  <a:pt x="861666" y="563533"/>
                  <a:pt x="697917" y="540000"/>
                </a:cubicBezTo>
                <a:cubicBezTo>
                  <a:pt x="534168" y="516467"/>
                  <a:pt x="385447" y="521038"/>
                  <a:pt x="90002" y="540000"/>
                </a:cubicBezTo>
                <a:cubicBezTo>
                  <a:pt x="43417" y="541093"/>
                  <a:pt x="1497" y="504749"/>
                  <a:pt x="0" y="449998"/>
                </a:cubicBezTo>
                <a:cubicBezTo>
                  <a:pt x="10345" y="295588"/>
                  <a:pt x="-123" y="200971"/>
                  <a:pt x="0" y="90002"/>
                </a:cubicBezTo>
                <a:close/>
              </a:path>
              <a:path w="1900517" h="540000" stroke="0" extrusionOk="0">
                <a:moveTo>
                  <a:pt x="0" y="90002"/>
                </a:moveTo>
                <a:cubicBezTo>
                  <a:pt x="-9037" y="34721"/>
                  <a:pt x="35995" y="1614"/>
                  <a:pt x="90002" y="0"/>
                </a:cubicBezTo>
                <a:cubicBezTo>
                  <a:pt x="219763" y="-21702"/>
                  <a:pt x="487792" y="24698"/>
                  <a:pt x="697917" y="0"/>
                </a:cubicBezTo>
                <a:cubicBezTo>
                  <a:pt x="908043" y="-24698"/>
                  <a:pt x="1045868" y="12713"/>
                  <a:pt x="1254216" y="0"/>
                </a:cubicBezTo>
                <a:cubicBezTo>
                  <a:pt x="1462564" y="-12713"/>
                  <a:pt x="1541174" y="20842"/>
                  <a:pt x="1810515" y="0"/>
                </a:cubicBezTo>
                <a:cubicBezTo>
                  <a:pt x="1858408" y="-5842"/>
                  <a:pt x="1902763" y="31985"/>
                  <a:pt x="1900517" y="90002"/>
                </a:cubicBezTo>
                <a:cubicBezTo>
                  <a:pt x="1914497" y="164508"/>
                  <a:pt x="1899017" y="283030"/>
                  <a:pt x="1900517" y="449998"/>
                </a:cubicBezTo>
                <a:cubicBezTo>
                  <a:pt x="1899830" y="493152"/>
                  <a:pt x="1853076" y="549931"/>
                  <a:pt x="1810515" y="540000"/>
                </a:cubicBezTo>
                <a:cubicBezTo>
                  <a:pt x="1567553" y="524027"/>
                  <a:pt x="1393910" y="545331"/>
                  <a:pt x="1271421" y="540000"/>
                </a:cubicBezTo>
                <a:cubicBezTo>
                  <a:pt x="1148932" y="534669"/>
                  <a:pt x="822531" y="559426"/>
                  <a:pt x="697917" y="540000"/>
                </a:cubicBezTo>
                <a:cubicBezTo>
                  <a:pt x="573303" y="520574"/>
                  <a:pt x="253301" y="550202"/>
                  <a:pt x="90002" y="540000"/>
                </a:cubicBezTo>
                <a:cubicBezTo>
                  <a:pt x="47510" y="532870"/>
                  <a:pt x="3274" y="497594"/>
                  <a:pt x="0" y="449998"/>
                </a:cubicBezTo>
                <a:cubicBezTo>
                  <a:pt x="2024" y="275979"/>
                  <a:pt x="-7437" y="162155"/>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Offshore events</a:t>
            </a:r>
          </a:p>
        </p:txBody>
      </p:sp>
      <p:sp>
        <p:nvSpPr>
          <p:cNvPr id="24" name="Rounded Rectangle 23">
            <a:extLst>
              <a:ext uri="{FF2B5EF4-FFF2-40B4-BE49-F238E27FC236}">
                <a16:creationId xmlns:a16="http://schemas.microsoft.com/office/drawing/2014/main" id="{BEF2AA16-A1D7-5F7A-923F-941B7F08174F}"/>
              </a:ext>
            </a:extLst>
          </p:cNvPr>
          <p:cNvSpPr/>
          <p:nvPr/>
        </p:nvSpPr>
        <p:spPr>
          <a:xfrm>
            <a:off x="835345" y="5356948"/>
            <a:ext cx="3155571" cy="540000"/>
          </a:xfrm>
          <a:custGeom>
            <a:avLst/>
            <a:gdLst>
              <a:gd name="csX0" fmla="*/ 0 w 3155571"/>
              <a:gd name="csY0" fmla="*/ 90002 h 540000"/>
              <a:gd name="csX1" fmla="*/ 90002 w 3155571"/>
              <a:gd name="csY1" fmla="*/ 0 h 540000"/>
              <a:gd name="csX2" fmla="*/ 625604 w 3155571"/>
              <a:gd name="csY2" fmla="*/ 0 h 540000"/>
              <a:gd name="csX3" fmla="*/ 1220717 w 3155571"/>
              <a:gd name="csY3" fmla="*/ 0 h 540000"/>
              <a:gd name="csX4" fmla="*/ 1756320 w 3155571"/>
              <a:gd name="csY4" fmla="*/ 0 h 540000"/>
              <a:gd name="csX5" fmla="*/ 2351433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500211 w 3155571"/>
              <a:gd name="csY10" fmla="*/ 540000 h 540000"/>
              <a:gd name="csX11" fmla="*/ 1994365 w 3155571"/>
              <a:gd name="csY11" fmla="*/ 540000 h 540000"/>
              <a:gd name="csX12" fmla="*/ 1369496 w 3155571"/>
              <a:gd name="csY12" fmla="*/ 540000 h 540000"/>
              <a:gd name="csX13" fmla="*/ 833894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620" y="41404"/>
                  <a:pt x="42369" y="1541"/>
                  <a:pt x="90002" y="0"/>
                </a:cubicBezTo>
                <a:cubicBezTo>
                  <a:pt x="223989" y="1661"/>
                  <a:pt x="484767" y="6480"/>
                  <a:pt x="625604" y="0"/>
                </a:cubicBezTo>
                <a:cubicBezTo>
                  <a:pt x="766441" y="-6480"/>
                  <a:pt x="1014499" y="-7204"/>
                  <a:pt x="1220717" y="0"/>
                </a:cubicBezTo>
                <a:cubicBezTo>
                  <a:pt x="1426935" y="7204"/>
                  <a:pt x="1642024" y="-14423"/>
                  <a:pt x="1756320" y="0"/>
                </a:cubicBezTo>
                <a:cubicBezTo>
                  <a:pt x="1870616" y="14423"/>
                  <a:pt x="2187364" y="-15181"/>
                  <a:pt x="2351433" y="0"/>
                </a:cubicBezTo>
                <a:cubicBezTo>
                  <a:pt x="2515502" y="15181"/>
                  <a:pt x="2902673" y="-13819"/>
                  <a:pt x="3065569" y="0"/>
                </a:cubicBezTo>
                <a:cubicBezTo>
                  <a:pt x="3117702" y="-7462"/>
                  <a:pt x="3156547" y="41350"/>
                  <a:pt x="3155571" y="90002"/>
                </a:cubicBezTo>
                <a:cubicBezTo>
                  <a:pt x="3160814" y="179923"/>
                  <a:pt x="3166453" y="376404"/>
                  <a:pt x="3155571" y="449998"/>
                </a:cubicBezTo>
                <a:cubicBezTo>
                  <a:pt x="3155168" y="491350"/>
                  <a:pt x="3117210" y="541218"/>
                  <a:pt x="3065569" y="540000"/>
                </a:cubicBezTo>
                <a:cubicBezTo>
                  <a:pt x="2858706" y="543446"/>
                  <a:pt x="2701238" y="528015"/>
                  <a:pt x="2500211" y="540000"/>
                </a:cubicBezTo>
                <a:cubicBezTo>
                  <a:pt x="2299184" y="551985"/>
                  <a:pt x="2183146" y="551799"/>
                  <a:pt x="1994365" y="540000"/>
                </a:cubicBezTo>
                <a:cubicBezTo>
                  <a:pt x="1805584" y="528201"/>
                  <a:pt x="1572353" y="535880"/>
                  <a:pt x="1369496" y="540000"/>
                </a:cubicBezTo>
                <a:cubicBezTo>
                  <a:pt x="1166639" y="544120"/>
                  <a:pt x="1088826" y="535335"/>
                  <a:pt x="833894" y="540000"/>
                </a:cubicBezTo>
                <a:cubicBezTo>
                  <a:pt x="578962" y="544665"/>
                  <a:pt x="401292" y="536687"/>
                  <a:pt x="90002" y="540000"/>
                </a:cubicBezTo>
                <a:cubicBezTo>
                  <a:pt x="42276" y="531356"/>
                  <a:pt x="-6533" y="499494"/>
                  <a:pt x="0" y="449998"/>
                </a:cubicBezTo>
                <a:cubicBezTo>
                  <a:pt x="-2774" y="358857"/>
                  <a:pt x="15469" y="180620"/>
                  <a:pt x="0" y="90002"/>
                </a:cubicBezTo>
                <a:close/>
              </a:path>
              <a:path w="3155571" h="540000" stroke="0" extrusionOk="0">
                <a:moveTo>
                  <a:pt x="0" y="90002"/>
                </a:moveTo>
                <a:cubicBezTo>
                  <a:pt x="-9037" y="34721"/>
                  <a:pt x="35995" y="1614"/>
                  <a:pt x="90002" y="0"/>
                </a:cubicBezTo>
                <a:cubicBezTo>
                  <a:pt x="367811" y="-23588"/>
                  <a:pt x="521729" y="1005"/>
                  <a:pt x="744627" y="0"/>
                </a:cubicBezTo>
                <a:cubicBezTo>
                  <a:pt x="967525" y="-1005"/>
                  <a:pt x="1111997" y="-11893"/>
                  <a:pt x="1309984" y="0"/>
                </a:cubicBezTo>
                <a:cubicBezTo>
                  <a:pt x="1507971" y="11893"/>
                  <a:pt x="1662593" y="23350"/>
                  <a:pt x="1845587" y="0"/>
                </a:cubicBezTo>
                <a:cubicBezTo>
                  <a:pt x="2028581" y="-23350"/>
                  <a:pt x="2228962" y="6615"/>
                  <a:pt x="2470456" y="0"/>
                </a:cubicBezTo>
                <a:cubicBezTo>
                  <a:pt x="2711950" y="-6615"/>
                  <a:pt x="2886448" y="-29131"/>
                  <a:pt x="3065569" y="0"/>
                </a:cubicBezTo>
                <a:cubicBezTo>
                  <a:pt x="3120916" y="-9178"/>
                  <a:pt x="3151534" y="43842"/>
                  <a:pt x="3155571" y="90002"/>
                </a:cubicBezTo>
                <a:cubicBezTo>
                  <a:pt x="3161409" y="175369"/>
                  <a:pt x="3165517" y="305738"/>
                  <a:pt x="3155571" y="449998"/>
                </a:cubicBezTo>
                <a:cubicBezTo>
                  <a:pt x="3162892" y="501465"/>
                  <a:pt x="3104796" y="538305"/>
                  <a:pt x="3065569" y="540000"/>
                </a:cubicBezTo>
                <a:cubicBezTo>
                  <a:pt x="2866141" y="557867"/>
                  <a:pt x="2721738" y="527744"/>
                  <a:pt x="2470456" y="540000"/>
                </a:cubicBezTo>
                <a:cubicBezTo>
                  <a:pt x="2219174" y="552256"/>
                  <a:pt x="2088762" y="513170"/>
                  <a:pt x="1905098" y="540000"/>
                </a:cubicBezTo>
                <a:cubicBezTo>
                  <a:pt x="1721434" y="566830"/>
                  <a:pt x="1416084" y="513017"/>
                  <a:pt x="1250473" y="540000"/>
                </a:cubicBezTo>
                <a:cubicBezTo>
                  <a:pt x="1084862" y="566983"/>
                  <a:pt x="828237" y="524510"/>
                  <a:pt x="595848" y="540000"/>
                </a:cubicBezTo>
                <a:cubicBezTo>
                  <a:pt x="363460" y="555490"/>
                  <a:pt x="323523" y="56240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Kotha et al. 2020 </a:t>
            </a:r>
            <a:r>
              <a:rPr lang="en-PT" sz="1200" dirty="0">
                <a:solidFill>
                  <a:srgbClr val="002060"/>
                </a:solidFill>
                <a:latin typeface="Titillium Web" pitchFamily="2" charset="77"/>
              </a:rPr>
              <a:t>(high-slow)</a:t>
            </a:r>
            <a:endParaRPr lang="en-PT" dirty="0">
              <a:solidFill>
                <a:srgbClr val="002060"/>
              </a:solidFill>
              <a:latin typeface="Titillium Web" pitchFamily="2" charset="77"/>
            </a:endParaRPr>
          </a:p>
        </p:txBody>
      </p:sp>
      <p:cxnSp>
        <p:nvCxnSpPr>
          <p:cNvPr id="18" name="Straight Arrow Connector 17">
            <a:extLst>
              <a:ext uri="{FF2B5EF4-FFF2-40B4-BE49-F238E27FC236}">
                <a16:creationId xmlns:a16="http://schemas.microsoft.com/office/drawing/2014/main" id="{209C9E7C-FFDA-4CC5-D831-BAFAB355F5DB}"/>
              </a:ext>
            </a:extLst>
          </p:cNvPr>
          <p:cNvCxnSpPr>
            <a:cxnSpLocks/>
          </p:cNvCxnSpPr>
          <p:nvPr/>
        </p:nvCxnSpPr>
        <p:spPr>
          <a:xfrm>
            <a:off x="2412014" y="3125955"/>
            <a:ext cx="0" cy="336091"/>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493163D3-7F93-1D96-B714-CB2839EF1BF3}"/>
              </a:ext>
            </a:extLst>
          </p:cNvPr>
          <p:cNvCxnSpPr>
            <a:cxnSpLocks/>
          </p:cNvCxnSpPr>
          <p:nvPr/>
        </p:nvCxnSpPr>
        <p:spPr>
          <a:xfrm>
            <a:off x="2403657" y="5043626"/>
            <a:ext cx="0" cy="31332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5162704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54779C-73B7-74A9-A818-C4FAF3F1FADD}"/>
            </a:ext>
          </a:extLst>
        </p:cNvPr>
        <p:cNvGrpSpPr/>
        <p:nvPr/>
      </p:nvGrpSpPr>
      <p:grpSpPr>
        <a:xfrm>
          <a:off x="0" y="0"/>
          <a:ext cx="0" cy="0"/>
          <a:chOff x="0" y="0"/>
          <a:chExt cx="0" cy="0"/>
        </a:xfrm>
      </p:grpSpPr>
      <p:pic>
        <p:nvPicPr>
          <p:cNvPr id="6" name="Picture 5" descr="A map of the region&#10;&#10;AI-generated content may be incorrect.">
            <a:extLst>
              <a:ext uri="{FF2B5EF4-FFF2-40B4-BE49-F238E27FC236}">
                <a16:creationId xmlns:a16="http://schemas.microsoft.com/office/drawing/2014/main" id="{94F6E64A-0953-EF6B-FA07-1A6D07602C4D}"/>
              </a:ext>
            </a:extLst>
          </p:cNvPr>
          <p:cNvPicPr>
            <a:picLocks noChangeAspect="1"/>
          </p:cNvPicPr>
          <p:nvPr/>
        </p:nvPicPr>
        <p:blipFill>
          <a:blip r:embed="rId2"/>
          <a:srcRect t="3153"/>
          <a:stretch>
            <a:fillRect/>
          </a:stretch>
        </p:blipFill>
        <p:spPr>
          <a:xfrm>
            <a:off x="6750009" y="108106"/>
            <a:ext cx="4217525" cy="6641788"/>
          </a:xfrm>
          <a:prstGeom prst="rect">
            <a:avLst/>
          </a:prstGeom>
        </p:spPr>
      </p:pic>
      <p:sp>
        <p:nvSpPr>
          <p:cNvPr id="7" name="TextBox 6">
            <a:extLst>
              <a:ext uri="{FF2B5EF4-FFF2-40B4-BE49-F238E27FC236}">
                <a16:creationId xmlns:a16="http://schemas.microsoft.com/office/drawing/2014/main" id="{1E955480-856C-9404-93EF-704A820BE7E1}"/>
              </a:ext>
            </a:extLst>
          </p:cNvPr>
          <p:cNvSpPr txBox="1"/>
          <p:nvPr/>
        </p:nvSpPr>
        <p:spPr>
          <a:xfrm>
            <a:off x="188260" y="174812"/>
            <a:ext cx="3792070" cy="1015663"/>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535F010B-84B8-829D-A217-77A9E164B417}"/>
              </a:ext>
            </a:extLst>
          </p:cNvPr>
          <p:cNvSpPr txBox="1"/>
          <p:nvPr/>
        </p:nvSpPr>
        <p:spPr>
          <a:xfrm>
            <a:off x="188260" y="1290918"/>
            <a:ext cx="4410634" cy="646331"/>
          </a:xfrm>
          <a:prstGeom prst="rect">
            <a:avLst/>
          </a:prstGeom>
          <a:noFill/>
        </p:spPr>
        <p:txBody>
          <a:bodyPr wrap="square" rtlCol="0">
            <a:spAutoFit/>
          </a:bodyPr>
          <a:lstStyle/>
          <a:p>
            <a:r>
              <a:rPr lang="en-PT" dirty="0">
                <a:solidFill>
                  <a:srgbClr val="002060"/>
                </a:solidFill>
                <a:latin typeface="Titillium Web" pitchFamily="2" charset="77"/>
              </a:rPr>
              <a:t>Seismic hazard (PGA for the 475 years return period) for mainland Portugal, using:</a:t>
            </a:r>
          </a:p>
        </p:txBody>
      </p:sp>
      <p:sp>
        <p:nvSpPr>
          <p:cNvPr id="2" name="Rounded Rectangle 1">
            <a:extLst>
              <a:ext uri="{FF2B5EF4-FFF2-40B4-BE49-F238E27FC236}">
                <a16:creationId xmlns:a16="http://schemas.microsoft.com/office/drawing/2014/main" id="{4268BB56-2E30-D515-E2E0-BCD171F1A141}"/>
              </a:ext>
            </a:extLst>
          </p:cNvPr>
          <p:cNvSpPr/>
          <p:nvPr/>
        </p:nvSpPr>
        <p:spPr>
          <a:xfrm>
            <a:off x="1462872" y="2585955"/>
            <a:ext cx="1900517" cy="540000"/>
          </a:xfrm>
          <a:custGeom>
            <a:avLst/>
            <a:gdLst>
              <a:gd name="csX0" fmla="*/ 0 w 1900517"/>
              <a:gd name="csY0" fmla="*/ 90002 h 540000"/>
              <a:gd name="csX1" fmla="*/ 90002 w 1900517"/>
              <a:gd name="csY1" fmla="*/ 0 h 540000"/>
              <a:gd name="csX2" fmla="*/ 697917 w 1900517"/>
              <a:gd name="csY2" fmla="*/ 0 h 540000"/>
              <a:gd name="csX3" fmla="*/ 1237011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88626 w 1900517"/>
              <a:gd name="csY8" fmla="*/ 540000 h 540000"/>
              <a:gd name="csX9" fmla="*/ 749532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087" y="38649"/>
                  <a:pt x="43463" y="-6345"/>
                  <a:pt x="90002" y="0"/>
                </a:cubicBezTo>
                <a:cubicBezTo>
                  <a:pt x="355467" y="-11402"/>
                  <a:pt x="418479" y="-24424"/>
                  <a:pt x="697917" y="0"/>
                </a:cubicBezTo>
                <a:cubicBezTo>
                  <a:pt x="977355" y="24424"/>
                  <a:pt x="1101179" y="14266"/>
                  <a:pt x="1237011" y="0"/>
                </a:cubicBezTo>
                <a:cubicBezTo>
                  <a:pt x="1372843" y="-14266"/>
                  <a:pt x="1674162" y="5036"/>
                  <a:pt x="1810515" y="0"/>
                </a:cubicBezTo>
                <a:cubicBezTo>
                  <a:pt x="1855025" y="4326"/>
                  <a:pt x="1897497" y="36661"/>
                  <a:pt x="1900517" y="90002"/>
                </a:cubicBezTo>
                <a:cubicBezTo>
                  <a:pt x="1908869" y="201270"/>
                  <a:pt x="1883065" y="375920"/>
                  <a:pt x="1900517" y="449998"/>
                </a:cubicBezTo>
                <a:cubicBezTo>
                  <a:pt x="1900670" y="506052"/>
                  <a:pt x="1855613" y="532917"/>
                  <a:pt x="1810515" y="540000"/>
                </a:cubicBezTo>
                <a:cubicBezTo>
                  <a:pt x="1637650" y="563456"/>
                  <a:pt x="1547323" y="545042"/>
                  <a:pt x="1288626" y="540000"/>
                </a:cubicBezTo>
                <a:cubicBezTo>
                  <a:pt x="1029929" y="534958"/>
                  <a:pt x="996056" y="542827"/>
                  <a:pt x="749532" y="540000"/>
                </a:cubicBezTo>
                <a:cubicBezTo>
                  <a:pt x="503008" y="537173"/>
                  <a:pt x="276055" y="541826"/>
                  <a:pt x="90002" y="540000"/>
                </a:cubicBezTo>
                <a:cubicBezTo>
                  <a:pt x="35954" y="530914"/>
                  <a:pt x="-10400" y="498643"/>
                  <a:pt x="0" y="449998"/>
                </a:cubicBezTo>
                <a:cubicBezTo>
                  <a:pt x="-3029" y="314961"/>
                  <a:pt x="11156" y="206338"/>
                  <a:pt x="0" y="90002"/>
                </a:cubicBezTo>
                <a:close/>
              </a:path>
              <a:path w="1900517" h="540000" stroke="0" extrusionOk="0">
                <a:moveTo>
                  <a:pt x="0" y="90002"/>
                </a:moveTo>
                <a:cubicBezTo>
                  <a:pt x="931" y="39480"/>
                  <a:pt x="37705" y="-655"/>
                  <a:pt x="90002" y="0"/>
                </a:cubicBezTo>
                <a:cubicBezTo>
                  <a:pt x="241798" y="-8962"/>
                  <a:pt x="420135" y="11875"/>
                  <a:pt x="611891" y="0"/>
                </a:cubicBezTo>
                <a:cubicBezTo>
                  <a:pt x="803647" y="-11875"/>
                  <a:pt x="917558" y="8808"/>
                  <a:pt x="1133780" y="0"/>
                </a:cubicBezTo>
                <a:cubicBezTo>
                  <a:pt x="1350002" y="-8808"/>
                  <a:pt x="1500364" y="-33721"/>
                  <a:pt x="1810515" y="0"/>
                </a:cubicBezTo>
                <a:cubicBezTo>
                  <a:pt x="1862168" y="12259"/>
                  <a:pt x="1898437" y="28231"/>
                  <a:pt x="1900517" y="90002"/>
                </a:cubicBezTo>
                <a:cubicBezTo>
                  <a:pt x="1915217" y="215299"/>
                  <a:pt x="1886176" y="303641"/>
                  <a:pt x="1900517" y="449998"/>
                </a:cubicBezTo>
                <a:cubicBezTo>
                  <a:pt x="1903078" y="500268"/>
                  <a:pt x="1849728" y="546152"/>
                  <a:pt x="1810515" y="540000"/>
                </a:cubicBezTo>
                <a:cubicBezTo>
                  <a:pt x="1691714" y="549468"/>
                  <a:pt x="1480693" y="559524"/>
                  <a:pt x="1271421" y="540000"/>
                </a:cubicBezTo>
                <a:cubicBezTo>
                  <a:pt x="1062149" y="520476"/>
                  <a:pt x="921989" y="542663"/>
                  <a:pt x="732327" y="540000"/>
                </a:cubicBezTo>
                <a:cubicBezTo>
                  <a:pt x="542665" y="537337"/>
                  <a:pt x="228329" y="549481"/>
                  <a:pt x="90002" y="540000"/>
                </a:cubicBezTo>
                <a:cubicBezTo>
                  <a:pt x="43509" y="538419"/>
                  <a:pt x="1900" y="492535"/>
                  <a:pt x="0" y="449998"/>
                </a:cubicBezTo>
                <a:cubicBezTo>
                  <a:pt x="-318" y="372350"/>
                  <a:pt x="8881" y="231793"/>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82505698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Inland events</a:t>
            </a:r>
          </a:p>
        </p:txBody>
      </p:sp>
      <p:sp>
        <p:nvSpPr>
          <p:cNvPr id="3" name="Rounded Rectangle 2">
            <a:extLst>
              <a:ext uri="{FF2B5EF4-FFF2-40B4-BE49-F238E27FC236}">
                <a16:creationId xmlns:a16="http://schemas.microsoft.com/office/drawing/2014/main" id="{0514C3F1-57FF-774C-D020-006568EDAAB0}"/>
              </a:ext>
            </a:extLst>
          </p:cNvPr>
          <p:cNvSpPr/>
          <p:nvPr/>
        </p:nvSpPr>
        <p:spPr>
          <a:xfrm>
            <a:off x="835343" y="3462046"/>
            <a:ext cx="3155575" cy="540000"/>
          </a:xfrm>
          <a:custGeom>
            <a:avLst/>
            <a:gdLst>
              <a:gd name="csX0" fmla="*/ 0 w 3155575"/>
              <a:gd name="csY0" fmla="*/ 90002 h 540000"/>
              <a:gd name="csX1" fmla="*/ 90002 w 3155575"/>
              <a:gd name="csY1" fmla="*/ 0 h 540000"/>
              <a:gd name="csX2" fmla="*/ 625605 w 3155575"/>
              <a:gd name="csY2" fmla="*/ 0 h 540000"/>
              <a:gd name="csX3" fmla="*/ 1220719 w 3155575"/>
              <a:gd name="csY3" fmla="*/ 0 h 540000"/>
              <a:gd name="csX4" fmla="*/ 1756322 w 3155575"/>
              <a:gd name="csY4" fmla="*/ 0 h 540000"/>
              <a:gd name="csX5" fmla="*/ 2351436 w 3155575"/>
              <a:gd name="csY5" fmla="*/ 0 h 540000"/>
              <a:gd name="csX6" fmla="*/ 3065573 w 3155575"/>
              <a:gd name="csY6" fmla="*/ 0 h 540000"/>
              <a:gd name="csX7" fmla="*/ 3155575 w 3155575"/>
              <a:gd name="csY7" fmla="*/ 90002 h 540000"/>
              <a:gd name="csX8" fmla="*/ 3155575 w 3155575"/>
              <a:gd name="csY8" fmla="*/ 449998 h 540000"/>
              <a:gd name="csX9" fmla="*/ 3065573 w 3155575"/>
              <a:gd name="csY9" fmla="*/ 540000 h 540000"/>
              <a:gd name="csX10" fmla="*/ 2500215 w 3155575"/>
              <a:gd name="csY10" fmla="*/ 540000 h 540000"/>
              <a:gd name="csX11" fmla="*/ 1994367 w 3155575"/>
              <a:gd name="csY11" fmla="*/ 540000 h 540000"/>
              <a:gd name="csX12" fmla="*/ 1369498 w 3155575"/>
              <a:gd name="csY12" fmla="*/ 540000 h 540000"/>
              <a:gd name="csX13" fmla="*/ 833895 w 3155575"/>
              <a:gd name="csY13" fmla="*/ 540000 h 540000"/>
              <a:gd name="csX14" fmla="*/ 90002 w 3155575"/>
              <a:gd name="csY14" fmla="*/ 540000 h 540000"/>
              <a:gd name="csX15" fmla="*/ 0 w 3155575"/>
              <a:gd name="csY15" fmla="*/ 449998 h 540000"/>
              <a:gd name="csX16" fmla="*/ 0 w 3155575"/>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5" h="540000" fill="none" extrusionOk="0">
                <a:moveTo>
                  <a:pt x="0" y="90002"/>
                </a:moveTo>
                <a:cubicBezTo>
                  <a:pt x="-620" y="41404"/>
                  <a:pt x="42369" y="1541"/>
                  <a:pt x="90002" y="0"/>
                </a:cubicBezTo>
                <a:cubicBezTo>
                  <a:pt x="216137" y="1015"/>
                  <a:pt x="479248" y="6286"/>
                  <a:pt x="625605" y="0"/>
                </a:cubicBezTo>
                <a:cubicBezTo>
                  <a:pt x="771962" y="-6286"/>
                  <a:pt x="1014105" y="-7901"/>
                  <a:pt x="1220719" y="0"/>
                </a:cubicBezTo>
                <a:cubicBezTo>
                  <a:pt x="1427333" y="7901"/>
                  <a:pt x="1642026" y="-14423"/>
                  <a:pt x="1756322" y="0"/>
                </a:cubicBezTo>
                <a:cubicBezTo>
                  <a:pt x="1870618" y="14423"/>
                  <a:pt x="2186052" y="-16973"/>
                  <a:pt x="2351436" y="0"/>
                </a:cubicBezTo>
                <a:cubicBezTo>
                  <a:pt x="2516820" y="16973"/>
                  <a:pt x="2899000" y="-18730"/>
                  <a:pt x="3065573" y="0"/>
                </a:cubicBezTo>
                <a:cubicBezTo>
                  <a:pt x="3117706" y="-7462"/>
                  <a:pt x="3156551" y="41350"/>
                  <a:pt x="3155575" y="90002"/>
                </a:cubicBezTo>
                <a:cubicBezTo>
                  <a:pt x="3160818" y="179923"/>
                  <a:pt x="3166457" y="376404"/>
                  <a:pt x="3155575" y="449998"/>
                </a:cubicBezTo>
                <a:cubicBezTo>
                  <a:pt x="3155172" y="491350"/>
                  <a:pt x="3117214" y="541218"/>
                  <a:pt x="3065573" y="540000"/>
                </a:cubicBezTo>
                <a:cubicBezTo>
                  <a:pt x="2858710" y="543446"/>
                  <a:pt x="2701242" y="528015"/>
                  <a:pt x="2500215" y="540000"/>
                </a:cubicBezTo>
                <a:cubicBezTo>
                  <a:pt x="2299188" y="551985"/>
                  <a:pt x="2197222" y="514714"/>
                  <a:pt x="1994367" y="540000"/>
                </a:cubicBezTo>
                <a:cubicBezTo>
                  <a:pt x="1791512" y="565286"/>
                  <a:pt x="1572355" y="535880"/>
                  <a:pt x="1369498" y="540000"/>
                </a:cubicBezTo>
                <a:cubicBezTo>
                  <a:pt x="1166641" y="544120"/>
                  <a:pt x="1095232" y="542631"/>
                  <a:pt x="833895" y="540000"/>
                </a:cubicBezTo>
                <a:cubicBezTo>
                  <a:pt x="572558" y="537369"/>
                  <a:pt x="405931" y="541985"/>
                  <a:pt x="90002" y="540000"/>
                </a:cubicBezTo>
                <a:cubicBezTo>
                  <a:pt x="42276" y="531356"/>
                  <a:pt x="-6533" y="499494"/>
                  <a:pt x="0" y="449998"/>
                </a:cubicBezTo>
                <a:cubicBezTo>
                  <a:pt x="-2774" y="358857"/>
                  <a:pt x="15469" y="180620"/>
                  <a:pt x="0" y="90002"/>
                </a:cubicBezTo>
                <a:close/>
              </a:path>
              <a:path w="3155575" h="540000" stroke="0" extrusionOk="0">
                <a:moveTo>
                  <a:pt x="0" y="90002"/>
                </a:moveTo>
                <a:cubicBezTo>
                  <a:pt x="-9037" y="34721"/>
                  <a:pt x="35995" y="1614"/>
                  <a:pt x="90002" y="0"/>
                </a:cubicBezTo>
                <a:cubicBezTo>
                  <a:pt x="363867" y="-28478"/>
                  <a:pt x="517290" y="-2228"/>
                  <a:pt x="744628" y="0"/>
                </a:cubicBezTo>
                <a:cubicBezTo>
                  <a:pt x="971966" y="2228"/>
                  <a:pt x="1105994" y="-13646"/>
                  <a:pt x="1309986" y="0"/>
                </a:cubicBezTo>
                <a:cubicBezTo>
                  <a:pt x="1513978" y="13646"/>
                  <a:pt x="1662595" y="23350"/>
                  <a:pt x="1845589" y="0"/>
                </a:cubicBezTo>
                <a:cubicBezTo>
                  <a:pt x="2028583" y="-23350"/>
                  <a:pt x="2224723" y="4861"/>
                  <a:pt x="2470459" y="0"/>
                </a:cubicBezTo>
                <a:cubicBezTo>
                  <a:pt x="2716195" y="-4861"/>
                  <a:pt x="2881533" y="26021"/>
                  <a:pt x="3065573" y="0"/>
                </a:cubicBezTo>
                <a:cubicBezTo>
                  <a:pt x="3120920" y="-9178"/>
                  <a:pt x="3151538" y="43842"/>
                  <a:pt x="3155575" y="90002"/>
                </a:cubicBezTo>
                <a:cubicBezTo>
                  <a:pt x="3161413" y="175369"/>
                  <a:pt x="3165521" y="305738"/>
                  <a:pt x="3155575" y="449998"/>
                </a:cubicBezTo>
                <a:cubicBezTo>
                  <a:pt x="3162896" y="501465"/>
                  <a:pt x="3104800" y="538305"/>
                  <a:pt x="3065573" y="540000"/>
                </a:cubicBezTo>
                <a:cubicBezTo>
                  <a:pt x="2871117" y="560054"/>
                  <a:pt x="2722688" y="530462"/>
                  <a:pt x="2470459" y="540000"/>
                </a:cubicBezTo>
                <a:cubicBezTo>
                  <a:pt x="2218230" y="549538"/>
                  <a:pt x="2091719" y="517994"/>
                  <a:pt x="1905100" y="540000"/>
                </a:cubicBezTo>
                <a:cubicBezTo>
                  <a:pt x="1718481" y="562006"/>
                  <a:pt x="1416086" y="513017"/>
                  <a:pt x="1250475" y="540000"/>
                </a:cubicBezTo>
                <a:cubicBezTo>
                  <a:pt x="1084864" y="566983"/>
                  <a:pt x="834463" y="525396"/>
                  <a:pt x="595849" y="540000"/>
                </a:cubicBezTo>
                <a:cubicBezTo>
                  <a:pt x="357235" y="554604"/>
                  <a:pt x="327179" y="56319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Boore et al. 2014</a:t>
            </a:r>
          </a:p>
        </p:txBody>
      </p:sp>
      <p:sp>
        <p:nvSpPr>
          <p:cNvPr id="22" name="Rounded Rectangle 21">
            <a:extLst>
              <a:ext uri="{FF2B5EF4-FFF2-40B4-BE49-F238E27FC236}">
                <a16:creationId xmlns:a16="http://schemas.microsoft.com/office/drawing/2014/main" id="{E2C35C27-5053-08DC-5029-FE0AC0B34CAF}"/>
              </a:ext>
            </a:extLst>
          </p:cNvPr>
          <p:cNvSpPr/>
          <p:nvPr/>
        </p:nvSpPr>
        <p:spPr>
          <a:xfrm>
            <a:off x="1462872" y="4503626"/>
            <a:ext cx="1900517" cy="540000"/>
          </a:xfrm>
          <a:custGeom>
            <a:avLst/>
            <a:gdLst>
              <a:gd name="csX0" fmla="*/ 0 w 1900517"/>
              <a:gd name="csY0" fmla="*/ 90002 h 540000"/>
              <a:gd name="csX1" fmla="*/ 90002 w 1900517"/>
              <a:gd name="csY1" fmla="*/ 0 h 540000"/>
              <a:gd name="csX2" fmla="*/ 680711 w 1900517"/>
              <a:gd name="csY2" fmla="*/ 0 h 540000"/>
              <a:gd name="csX3" fmla="*/ 1254216 w 1900517"/>
              <a:gd name="csY3" fmla="*/ 0 h 540000"/>
              <a:gd name="csX4" fmla="*/ 1810515 w 1900517"/>
              <a:gd name="csY4" fmla="*/ 0 h 540000"/>
              <a:gd name="csX5" fmla="*/ 1900517 w 1900517"/>
              <a:gd name="csY5" fmla="*/ 90002 h 540000"/>
              <a:gd name="csX6" fmla="*/ 1900517 w 1900517"/>
              <a:gd name="csY6" fmla="*/ 449998 h 540000"/>
              <a:gd name="csX7" fmla="*/ 1810515 w 1900517"/>
              <a:gd name="csY7" fmla="*/ 540000 h 540000"/>
              <a:gd name="csX8" fmla="*/ 1219806 w 1900517"/>
              <a:gd name="csY8" fmla="*/ 540000 h 540000"/>
              <a:gd name="csX9" fmla="*/ 697917 w 1900517"/>
              <a:gd name="csY9" fmla="*/ 540000 h 540000"/>
              <a:gd name="csX10" fmla="*/ 90002 w 1900517"/>
              <a:gd name="csY10" fmla="*/ 540000 h 540000"/>
              <a:gd name="csX11" fmla="*/ 0 w 1900517"/>
              <a:gd name="csY11" fmla="*/ 449998 h 540000"/>
              <a:gd name="csX12" fmla="*/ 0 w 1900517"/>
              <a:gd name="csY12"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1900517" h="540000" fill="none" extrusionOk="0">
                <a:moveTo>
                  <a:pt x="0" y="90002"/>
                </a:moveTo>
                <a:cubicBezTo>
                  <a:pt x="-7603" y="41543"/>
                  <a:pt x="33146" y="-4933"/>
                  <a:pt x="90002" y="0"/>
                </a:cubicBezTo>
                <a:cubicBezTo>
                  <a:pt x="283034" y="3233"/>
                  <a:pt x="390086" y="29445"/>
                  <a:pt x="680711" y="0"/>
                </a:cubicBezTo>
                <a:cubicBezTo>
                  <a:pt x="971336" y="-29445"/>
                  <a:pt x="970393" y="20127"/>
                  <a:pt x="1254216" y="0"/>
                </a:cubicBezTo>
                <a:cubicBezTo>
                  <a:pt x="1538039" y="-20127"/>
                  <a:pt x="1639508" y="-2719"/>
                  <a:pt x="1810515" y="0"/>
                </a:cubicBezTo>
                <a:cubicBezTo>
                  <a:pt x="1848963" y="464"/>
                  <a:pt x="1905223" y="31811"/>
                  <a:pt x="1900517" y="90002"/>
                </a:cubicBezTo>
                <a:cubicBezTo>
                  <a:pt x="1902103" y="206242"/>
                  <a:pt x="1911643" y="301308"/>
                  <a:pt x="1900517" y="449998"/>
                </a:cubicBezTo>
                <a:cubicBezTo>
                  <a:pt x="1905335" y="509244"/>
                  <a:pt x="1855501" y="542489"/>
                  <a:pt x="1810515" y="540000"/>
                </a:cubicBezTo>
                <a:cubicBezTo>
                  <a:pt x="1650478" y="551623"/>
                  <a:pt x="1459965" y="524155"/>
                  <a:pt x="1219806" y="540000"/>
                </a:cubicBezTo>
                <a:cubicBezTo>
                  <a:pt x="979647" y="555845"/>
                  <a:pt x="861666" y="563533"/>
                  <a:pt x="697917" y="540000"/>
                </a:cubicBezTo>
                <a:cubicBezTo>
                  <a:pt x="534168" y="516467"/>
                  <a:pt x="385447" y="521038"/>
                  <a:pt x="90002" y="540000"/>
                </a:cubicBezTo>
                <a:cubicBezTo>
                  <a:pt x="43417" y="541093"/>
                  <a:pt x="1497" y="504749"/>
                  <a:pt x="0" y="449998"/>
                </a:cubicBezTo>
                <a:cubicBezTo>
                  <a:pt x="10345" y="295588"/>
                  <a:pt x="-123" y="200971"/>
                  <a:pt x="0" y="90002"/>
                </a:cubicBezTo>
                <a:close/>
              </a:path>
              <a:path w="1900517" h="540000" stroke="0" extrusionOk="0">
                <a:moveTo>
                  <a:pt x="0" y="90002"/>
                </a:moveTo>
                <a:cubicBezTo>
                  <a:pt x="-9037" y="34721"/>
                  <a:pt x="35995" y="1614"/>
                  <a:pt x="90002" y="0"/>
                </a:cubicBezTo>
                <a:cubicBezTo>
                  <a:pt x="219763" y="-21702"/>
                  <a:pt x="487792" y="24698"/>
                  <a:pt x="697917" y="0"/>
                </a:cubicBezTo>
                <a:cubicBezTo>
                  <a:pt x="908043" y="-24698"/>
                  <a:pt x="1045868" y="12713"/>
                  <a:pt x="1254216" y="0"/>
                </a:cubicBezTo>
                <a:cubicBezTo>
                  <a:pt x="1462564" y="-12713"/>
                  <a:pt x="1541174" y="20842"/>
                  <a:pt x="1810515" y="0"/>
                </a:cubicBezTo>
                <a:cubicBezTo>
                  <a:pt x="1858408" y="-5842"/>
                  <a:pt x="1902763" y="31985"/>
                  <a:pt x="1900517" y="90002"/>
                </a:cubicBezTo>
                <a:cubicBezTo>
                  <a:pt x="1914497" y="164508"/>
                  <a:pt x="1899017" y="283030"/>
                  <a:pt x="1900517" y="449998"/>
                </a:cubicBezTo>
                <a:cubicBezTo>
                  <a:pt x="1899830" y="493152"/>
                  <a:pt x="1853076" y="549931"/>
                  <a:pt x="1810515" y="540000"/>
                </a:cubicBezTo>
                <a:cubicBezTo>
                  <a:pt x="1567553" y="524027"/>
                  <a:pt x="1393910" y="545331"/>
                  <a:pt x="1271421" y="540000"/>
                </a:cubicBezTo>
                <a:cubicBezTo>
                  <a:pt x="1148932" y="534669"/>
                  <a:pt x="822531" y="559426"/>
                  <a:pt x="697917" y="540000"/>
                </a:cubicBezTo>
                <a:cubicBezTo>
                  <a:pt x="573303" y="520574"/>
                  <a:pt x="253301" y="550202"/>
                  <a:pt x="90002" y="540000"/>
                </a:cubicBezTo>
                <a:cubicBezTo>
                  <a:pt x="47510" y="532870"/>
                  <a:pt x="3274" y="497594"/>
                  <a:pt x="0" y="449998"/>
                </a:cubicBezTo>
                <a:cubicBezTo>
                  <a:pt x="2024" y="275979"/>
                  <a:pt x="-7437" y="162155"/>
                  <a:pt x="0" y="90002"/>
                </a:cubicBezTo>
                <a:close/>
              </a:path>
            </a:pathLst>
          </a:custGeom>
          <a:solidFill>
            <a:srgbClr val="002060"/>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b="1" dirty="0">
                <a:solidFill>
                  <a:schemeClr val="bg1"/>
                </a:solidFill>
                <a:latin typeface="Titillium Web" pitchFamily="2" charset="77"/>
              </a:rPr>
              <a:t>Offshore events</a:t>
            </a:r>
          </a:p>
        </p:txBody>
      </p:sp>
      <p:sp>
        <p:nvSpPr>
          <p:cNvPr id="24" name="Rounded Rectangle 23">
            <a:extLst>
              <a:ext uri="{FF2B5EF4-FFF2-40B4-BE49-F238E27FC236}">
                <a16:creationId xmlns:a16="http://schemas.microsoft.com/office/drawing/2014/main" id="{53B072A9-7F7B-9563-FD7E-402333D9DE8F}"/>
              </a:ext>
            </a:extLst>
          </p:cNvPr>
          <p:cNvSpPr/>
          <p:nvPr/>
        </p:nvSpPr>
        <p:spPr>
          <a:xfrm>
            <a:off x="835345" y="5356948"/>
            <a:ext cx="3155571" cy="540000"/>
          </a:xfrm>
          <a:custGeom>
            <a:avLst/>
            <a:gdLst>
              <a:gd name="csX0" fmla="*/ 0 w 3155571"/>
              <a:gd name="csY0" fmla="*/ 90002 h 540000"/>
              <a:gd name="csX1" fmla="*/ 90002 w 3155571"/>
              <a:gd name="csY1" fmla="*/ 0 h 540000"/>
              <a:gd name="csX2" fmla="*/ 625604 w 3155571"/>
              <a:gd name="csY2" fmla="*/ 0 h 540000"/>
              <a:gd name="csX3" fmla="*/ 1220717 w 3155571"/>
              <a:gd name="csY3" fmla="*/ 0 h 540000"/>
              <a:gd name="csX4" fmla="*/ 1756320 w 3155571"/>
              <a:gd name="csY4" fmla="*/ 0 h 540000"/>
              <a:gd name="csX5" fmla="*/ 2351433 w 3155571"/>
              <a:gd name="csY5" fmla="*/ 0 h 540000"/>
              <a:gd name="csX6" fmla="*/ 3065569 w 3155571"/>
              <a:gd name="csY6" fmla="*/ 0 h 540000"/>
              <a:gd name="csX7" fmla="*/ 3155571 w 3155571"/>
              <a:gd name="csY7" fmla="*/ 90002 h 540000"/>
              <a:gd name="csX8" fmla="*/ 3155571 w 3155571"/>
              <a:gd name="csY8" fmla="*/ 449998 h 540000"/>
              <a:gd name="csX9" fmla="*/ 3065569 w 3155571"/>
              <a:gd name="csY9" fmla="*/ 540000 h 540000"/>
              <a:gd name="csX10" fmla="*/ 2500211 w 3155571"/>
              <a:gd name="csY10" fmla="*/ 540000 h 540000"/>
              <a:gd name="csX11" fmla="*/ 1994365 w 3155571"/>
              <a:gd name="csY11" fmla="*/ 540000 h 540000"/>
              <a:gd name="csX12" fmla="*/ 1369496 w 3155571"/>
              <a:gd name="csY12" fmla="*/ 540000 h 540000"/>
              <a:gd name="csX13" fmla="*/ 833894 w 3155571"/>
              <a:gd name="csY13" fmla="*/ 540000 h 540000"/>
              <a:gd name="csX14" fmla="*/ 90002 w 3155571"/>
              <a:gd name="csY14" fmla="*/ 540000 h 540000"/>
              <a:gd name="csX15" fmla="*/ 0 w 3155571"/>
              <a:gd name="csY15" fmla="*/ 449998 h 540000"/>
              <a:gd name="csX16" fmla="*/ 0 w 3155571"/>
              <a:gd name="csY16" fmla="*/ 90002 h 540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3155571" h="540000" fill="none" extrusionOk="0">
                <a:moveTo>
                  <a:pt x="0" y="90002"/>
                </a:moveTo>
                <a:cubicBezTo>
                  <a:pt x="-620" y="41404"/>
                  <a:pt x="42369" y="1541"/>
                  <a:pt x="90002" y="0"/>
                </a:cubicBezTo>
                <a:cubicBezTo>
                  <a:pt x="223989" y="1661"/>
                  <a:pt x="484767" y="6480"/>
                  <a:pt x="625604" y="0"/>
                </a:cubicBezTo>
                <a:cubicBezTo>
                  <a:pt x="766441" y="-6480"/>
                  <a:pt x="1014499" y="-7204"/>
                  <a:pt x="1220717" y="0"/>
                </a:cubicBezTo>
                <a:cubicBezTo>
                  <a:pt x="1426935" y="7204"/>
                  <a:pt x="1642024" y="-14423"/>
                  <a:pt x="1756320" y="0"/>
                </a:cubicBezTo>
                <a:cubicBezTo>
                  <a:pt x="1870616" y="14423"/>
                  <a:pt x="2187364" y="-15181"/>
                  <a:pt x="2351433" y="0"/>
                </a:cubicBezTo>
                <a:cubicBezTo>
                  <a:pt x="2515502" y="15181"/>
                  <a:pt x="2902673" y="-13819"/>
                  <a:pt x="3065569" y="0"/>
                </a:cubicBezTo>
                <a:cubicBezTo>
                  <a:pt x="3117702" y="-7462"/>
                  <a:pt x="3156547" y="41350"/>
                  <a:pt x="3155571" y="90002"/>
                </a:cubicBezTo>
                <a:cubicBezTo>
                  <a:pt x="3160814" y="179923"/>
                  <a:pt x="3166453" y="376404"/>
                  <a:pt x="3155571" y="449998"/>
                </a:cubicBezTo>
                <a:cubicBezTo>
                  <a:pt x="3155168" y="491350"/>
                  <a:pt x="3117210" y="541218"/>
                  <a:pt x="3065569" y="540000"/>
                </a:cubicBezTo>
                <a:cubicBezTo>
                  <a:pt x="2858706" y="543446"/>
                  <a:pt x="2701238" y="528015"/>
                  <a:pt x="2500211" y="540000"/>
                </a:cubicBezTo>
                <a:cubicBezTo>
                  <a:pt x="2299184" y="551985"/>
                  <a:pt x="2183146" y="551799"/>
                  <a:pt x="1994365" y="540000"/>
                </a:cubicBezTo>
                <a:cubicBezTo>
                  <a:pt x="1805584" y="528201"/>
                  <a:pt x="1572353" y="535880"/>
                  <a:pt x="1369496" y="540000"/>
                </a:cubicBezTo>
                <a:cubicBezTo>
                  <a:pt x="1166639" y="544120"/>
                  <a:pt x="1088826" y="535335"/>
                  <a:pt x="833894" y="540000"/>
                </a:cubicBezTo>
                <a:cubicBezTo>
                  <a:pt x="578962" y="544665"/>
                  <a:pt x="401292" y="536687"/>
                  <a:pt x="90002" y="540000"/>
                </a:cubicBezTo>
                <a:cubicBezTo>
                  <a:pt x="42276" y="531356"/>
                  <a:pt x="-6533" y="499494"/>
                  <a:pt x="0" y="449998"/>
                </a:cubicBezTo>
                <a:cubicBezTo>
                  <a:pt x="-2774" y="358857"/>
                  <a:pt x="15469" y="180620"/>
                  <a:pt x="0" y="90002"/>
                </a:cubicBezTo>
                <a:close/>
              </a:path>
              <a:path w="3155571" h="540000" stroke="0" extrusionOk="0">
                <a:moveTo>
                  <a:pt x="0" y="90002"/>
                </a:moveTo>
                <a:cubicBezTo>
                  <a:pt x="-9037" y="34721"/>
                  <a:pt x="35995" y="1614"/>
                  <a:pt x="90002" y="0"/>
                </a:cubicBezTo>
                <a:cubicBezTo>
                  <a:pt x="367811" y="-23588"/>
                  <a:pt x="521729" y="1005"/>
                  <a:pt x="744627" y="0"/>
                </a:cubicBezTo>
                <a:cubicBezTo>
                  <a:pt x="967525" y="-1005"/>
                  <a:pt x="1111997" y="-11893"/>
                  <a:pt x="1309984" y="0"/>
                </a:cubicBezTo>
                <a:cubicBezTo>
                  <a:pt x="1507971" y="11893"/>
                  <a:pt x="1662593" y="23350"/>
                  <a:pt x="1845587" y="0"/>
                </a:cubicBezTo>
                <a:cubicBezTo>
                  <a:pt x="2028581" y="-23350"/>
                  <a:pt x="2228962" y="6615"/>
                  <a:pt x="2470456" y="0"/>
                </a:cubicBezTo>
                <a:cubicBezTo>
                  <a:pt x="2711950" y="-6615"/>
                  <a:pt x="2886448" y="-29131"/>
                  <a:pt x="3065569" y="0"/>
                </a:cubicBezTo>
                <a:cubicBezTo>
                  <a:pt x="3120916" y="-9178"/>
                  <a:pt x="3151534" y="43842"/>
                  <a:pt x="3155571" y="90002"/>
                </a:cubicBezTo>
                <a:cubicBezTo>
                  <a:pt x="3161409" y="175369"/>
                  <a:pt x="3165517" y="305738"/>
                  <a:pt x="3155571" y="449998"/>
                </a:cubicBezTo>
                <a:cubicBezTo>
                  <a:pt x="3162892" y="501465"/>
                  <a:pt x="3104796" y="538305"/>
                  <a:pt x="3065569" y="540000"/>
                </a:cubicBezTo>
                <a:cubicBezTo>
                  <a:pt x="2866141" y="557867"/>
                  <a:pt x="2721738" y="527744"/>
                  <a:pt x="2470456" y="540000"/>
                </a:cubicBezTo>
                <a:cubicBezTo>
                  <a:pt x="2219174" y="552256"/>
                  <a:pt x="2088762" y="513170"/>
                  <a:pt x="1905098" y="540000"/>
                </a:cubicBezTo>
                <a:cubicBezTo>
                  <a:pt x="1721434" y="566830"/>
                  <a:pt x="1416084" y="513017"/>
                  <a:pt x="1250473" y="540000"/>
                </a:cubicBezTo>
                <a:cubicBezTo>
                  <a:pt x="1084862" y="566983"/>
                  <a:pt x="828237" y="524510"/>
                  <a:pt x="595848" y="540000"/>
                </a:cubicBezTo>
                <a:cubicBezTo>
                  <a:pt x="363460" y="555490"/>
                  <a:pt x="323523" y="562400"/>
                  <a:pt x="90002" y="540000"/>
                </a:cubicBezTo>
                <a:cubicBezTo>
                  <a:pt x="38717" y="538513"/>
                  <a:pt x="-1301" y="497760"/>
                  <a:pt x="0" y="449998"/>
                </a:cubicBezTo>
                <a:cubicBezTo>
                  <a:pt x="9177" y="311553"/>
                  <a:pt x="9700" y="186893"/>
                  <a:pt x="0" y="90002"/>
                </a:cubicBezTo>
                <a:close/>
              </a:path>
            </a:pathLst>
          </a:custGeom>
          <a:solidFill>
            <a:schemeClr val="accent4">
              <a:lumMod val="20000"/>
              <a:lumOff val="80000"/>
            </a:schemeClr>
          </a:solidFill>
          <a:ln>
            <a:solidFill>
              <a:srgbClr val="002060"/>
            </a:solidFill>
            <a:extLst>
              <a:ext uri="{C807C97D-BFC1-408E-A445-0C87EB9F89A2}">
                <ask:lineSketchStyleProps xmlns:ask="http://schemas.microsoft.com/office/drawing/2018/sketchyshapes" sd="1219033472">
                  <a:prstGeom prst="roundRect">
                    <a:avLst/>
                  </a:prstGeom>
                  <ask:type>
                    <ask:lineSketchFreehand/>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PT" dirty="0">
                <a:solidFill>
                  <a:srgbClr val="002060"/>
                </a:solidFill>
                <a:latin typeface="Titillium Web" pitchFamily="2" charset="77"/>
              </a:rPr>
              <a:t>Abrahamson et al. 2014</a:t>
            </a:r>
          </a:p>
        </p:txBody>
      </p:sp>
      <p:cxnSp>
        <p:nvCxnSpPr>
          <p:cNvPr id="18" name="Straight Arrow Connector 17">
            <a:extLst>
              <a:ext uri="{FF2B5EF4-FFF2-40B4-BE49-F238E27FC236}">
                <a16:creationId xmlns:a16="http://schemas.microsoft.com/office/drawing/2014/main" id="{F373080B-828B-2408-09AE-89B4CDD7AFD9}"/>
              </a:ext>
            </a:extLst>
          </p:cNvPr>
          <p:cNvCxnSpPr>
            <a:cxnSpLocks/>
          </p:cNvCxnSpPr>
          <p:nvPr/>
        </p:nvCxnSpPr>
        <p:spPr>
          <a:xfrm>
            <a:off x="2412014" y="3125955"/>
            <a:ext cx="0" cy="336091"/>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cxnSp>
        <p:nvCxnSpPr>
          <p:cNvPr id="20" name="Straight Arrow Connector 19">
            <a:extLst>
              <a:ext uri="{FF2B5EF4-FFF2-40B4-BE49-F238E27FC236}">
                <a16:creationId xmlns:a16="http://schemas.microsoft.com/office/drawing/2014/main" id="{5F663C00-829E-4CF1-F726-2A961AF7276E}"/>
              </a:ext>
            </a:extLst>
          </p:cNvPr>
          <p:cNvCxnSpPr>
            <a:cxnSpLocks/>
          </p:cNvCxnSpPr>
          <p:nvPr/>
        </p:nvCxnSpPr>
        <p:spPr>
          <a:xfrm>
            <a:off x="2403657" y="5043626"/>
            <a:ext cx="0" cy="313322"/>
          </a:xfrm>
          <a:prstGeom prst="straightConnector1">
            <a:avLst/>
          </a:prstGeom>
          <a:ln>
            <a:solidFill>
              <a:srgbClr val="00206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29483510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66546-8553-47CB-8742-8140682FB5C8}"/>
            </a:ext>
          </a:extLst>
        </p:cNvPr>
        <p:cNvGrpSpPr/>
        <p:nvPr/>
      </p:nvGrpSpPr>
      <p:grpSpPr>
        <a:xfrm>
          <a:off x="0" y="0"/>
          <a:ext cx="0" cy="0"/>
          <a:chOff x="0" y="0"/>
          <a:chExt cx="0" cy="0"/>
        </a:xfrm>
      </p:grpSpPr>
      <p:sp>
        <p:nvSpPr>
          <p:cNvPr id="7" name="TextBox 6">
            <a:extLst>
              <a:ext uri="{FF2B5EF4-FFF2-40B4-BE49-F238E27FC236}">
                <a16:creationId xmlns:a16="http://schemas.microsoft.com/office/drawing/2014/main" id="{6851C6F1-DB64-25B2-FDE9-A91F7173DFEF}"/>
              </a:ext>
            </a:extLst>
          </p:cNvPr>
          <p:cNvSpPr txBox="1"/>
          <p:nvPr/>
        </p:nvSpPr>
        <p:spPr>
          <a:xfrm>
            <a:off x="188259" y="174812"/>
            <a:ext cx="8996081" cy="400110"/>
          </a:xfrm>
          <a:prstGeom prst="rect">
            <a:avLst/>
          </a:prstGeom>
          <a:noFill/>
        </p:spPr>
        <p:txBody>
          <a:bodyPr wrap="square" rtlCol="0">
            <a:spAutoFit/>
          </a:bodyPr>
          <a:lstStyle/>
          <a:p>
            <a:r>
              <a:rPr lang="en-PT" sz="2000" dirty="0">
                <a:solidFill>
                  <a:srgbClr val="002060"/>
                </a:solidFill>
                <a:latin typeface="Intro Inline" panose="02000000000000000000" pitchFamily="2" charset="0"/>
              </a:rPr>
              <a:t>Seismic Hazard Assessment for Mainland Portugal</a:t>
            </a:r>
          </a:p>
        </p:txBody>
      </p:sp>
      <p:sp>
        <p:nvSpPr>
          <p:cNvPr id="8" name="TextBox 7">
            <a:extLst>
              <a:ext uri="{FF2B5EF4-FFF2-40B4-BE49-F238E27FC236}">
                <a16:creationId xmlns:a16="http://schemas.microsoft.com/office/drawing/2014/main" id="{F8666FC2-C87F-0C42-BC41-EFD437D06FFD}"/>
              </a:ext>
            </a:extLst>
          </p:cNvPr>
          <p:cNvSpPr txBox="1"/>
          <p:nvPr/>
        </p:nvSpPr>
        <p:spPr>
          <a:xfrm>
            <a:off x="497542" y="766483"/>
            <a:ext cx="10300446" cy="1954381"/>
          </a:xfrm>
          <a:prstGeom prst="rect">
            <a:avLst/>
          </a:prstGeom>
          <a:noFill/>
        </p:spPr>
        <p:txBody>
          <a:bodyPr wrap="square" rtlCol="0">
            <a:spAutoFit/>
          </a:bodyPr>
          <a:lstStyle/>
          <a:p>
            <a:pPr>
              <a:lnSpc>
                <a:spcPct val="150000"/>
              </a:lnSpc>
            </a:pPr>
            <a:r>
              <a:rPr lang="en-PT" dirty="0">
                <a:solidFill>
                  <a:srgbClr val="002060"/>
                </a:solidFill>
                <a:latin typeface="Titillium Web" pitchFamily="2" charset="77"/>
              </a:rPr>
              <a:t>N</a:t>
            </a:r>
            <a:r>
              <a:rPr lang="en-GB" dirty="0">
                <a:solidFill>
                  <a:srgbClr val="002060"/>
                </a:solidFill>
                <a:latin typeface="Titillium Web" pitchFamily="2" charset="77"/>
              </a:rPr>
              <a:t>e</a:t>
            </a:r>
            <a:r>
              <a:rPr lang="en-PT" dirty="0">
                <a:solidFill>
                  <a:srgbClr val="002060"/>
                </a:solidFill>
                <a:latin typeface="Titillium Web" pitchFamily="2" charset="77"/>
              </a:rPr>
              <a:t>xt steps:</a:t>
            </a:r>
          </a:p>
          <a:p>
            <a:pPr marL="285750" indent="-285750">
              <a:lnSpc>
                <a:spcPct val="150000"/>
              </a:lnSpc>
              <a:buFont typeface="Courier New" panose="02070309020205020404" pitchFamily="49" charset="0"/>
              <a:buChar char="o"/>
            </a:pPr>
            <a:r>
              <a:rPr lang="en-PT" sz="1600" dirty="0">
                <a:solidFill>
                  <a:srgbClr val="002060"/>
                </a:solidFill>
                <a:latin typeface="Titillium Web" pitchFamily="2" charset="77"/>
              </a:rPr>
              <a:t>Verify how the ground motion models estimate ground shaking for strong magnitudes</a:t>
            </a:r>
          </a:p>
          <a:p>
            <a:pPr marL="285750" indent="-285750">
              <a:lnSpc>
                <a:spcPct val="150000"/>
              </a:lnSpc>
              <a:buFont typeface="Courier New" panose="02070309020205020404" pitchFamily="49" charset="0"/>
              <a:buChar char="o"/>
            </a:pPr>
            <a:r>
              <a:rPr lang="en-PT" sz="1600" dirty="0">
                <a:solidFill>
                  <a:srgbClr val="002060"/>
                </a:solidFill>
                <a:latin typeface="Titillium Web" pitchFamily="2" charset="77"/>
              </a:rPr>
              <a:t>Estimate seismic hazard disaggregation for specific locations in Portugal (Lisbon, Porto, Vila do Bispo)</a:t>
            </a:r>
          </a:p>
          <a:p>
            <a:pPr marL="285750" indent="-285750">
              <a:lnSpc>
                <a:spcPct val="150000"/>
              </a:lnSpc>
              <a:buFont typeface="Courier New" panose="02070309020205020404" pitchFamily="49" charset="0"/>
              <a:buChar char="o"/>
            </a:pPr>
            <a:r>
              <a:rPr lang="en-PT" sz="1600" dirty="0">
                <a:solidFill>
                  <a:srgbClr val="002060"/>
                </a:solidFill>
                <a:latin typeface="Titillium Web" pitchFamily="2" charset="77"/>
              </a:rPr>
              <a:t>Investigate the influence of the weights from the various ground motion models</a:t>
            </a:r>
          </a:p>
          <a:p>
            <a:pPr marL="285750" indent="-285750">
              <a:lnSpc>
                <a:spcPct val="150000"/>
              </a:lnSpc>
              <a:buFont typeface="Courier New" panose="02070309020205020404" pitchFamily="49" charset="0"/>
              <a:buChar char="o"/>
            </a:pPr>
            <a:r>
              <a:rPr lang="en-PT" sz="1600" dirty="0">
                <a:solidFill>
                  <a:srgbClr val="002060"/>
                </a:solidFill>
                <a:latin typeface="Titillium Web" pitchFamily="2" charset="77"/>
              </a:rPr>
              <a:t>Evaluate the potential consequences of changing the seismic demand </a:t>
            </a:r>
            <a:r>
              <a:rPr lang="en-GB" sz="1600" dirty="0" err="1">
                <a:solidFill>
                  <a:srgbClr val="002060"/>
                </a:solidFill>
                <a:latin typeface="Titillium Web" pitchFamily="2" charset="77"/>
              </a:rPr>
              <a:t>i</a:t>
            </a:r>
            <a:r>
              <a:rPr lang="en-PT" sz="1600" dirty="0">
                <a:solidFill>
                  <a:srgbClr val="002060"/>
                </a:solidFill>
                <a:latin typeface="Titillium Web" pitchFamily="2" charset="77"/>
              </a:rPr>
              <a:t>n the safety and costs of the buildings </a:t>
            </a:r>
          </a:p>
        </p:txBody>
      </p:sp>
    </p:spTree>
    <p:extLst>
      <p:ext uri="{BB962C8B-B14F-4D97-AF65-F5344CB8AC3E}">
        <p14:creationId xmlns:p14="http://schemas.microsoft.com/office/powerpoint/2010/main" val="359726259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3221</TotalTime>
  <Words>636</Words>
  <Application>Microsoft Macintosh PowerPoint</Application>
  <PresentationFormat>Widescreen</PresentationFormat>
  <Paragraphs>62</Paragraphs>
  <Slides>10</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Aptos</vt:lpstr>
      <vt:lpstr>Aptos Display</vt:lpstr>
      <vt:lpstr>Arial</vt:lpstr>
      <vt:lpstr>Courier New</vt:lpstr>
      <vt:lpstr>Intro Inline</vt:lpstr>
      <vt:lpstr>Titillium Web</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Vitor Silva</dc:creator>
  <cp:lastModifiedBy>Vitor Silva</cp:lastModifiedBy>
  <cp:revision>4</cp:revision>
  <dcterms:created xsi:type="dcterms:W3CDTF">2026-02-23T11:58:05Z</dcterms:created>
  <dcterms:modified xsi:type="dcterms:W3CDTF">2026-02-25T17:39:49Z</dcterms:modified>
</cp:coreProperties>
</file>